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handoutMasterIdLst>
    <p:handoutMasterId r:id="rId17"/>
  </p:handoutMasterIdLst>
  <p:sldIdLst>
    <p:sldId id="256" r:id="rId2"/>
    <p:sldId id="267" r:id="rId3"/>
    <p:sldId id="268" r:id="rId4"/>
    <p:sldId id="269" r:id="rId5"/>
    <p:sldId id="270" r:id="rId6"/>
    <p:sldId id="272" r:id="rId7"/>
    <p:sldId id="273" r:id="rId8"/>
    <p:sldId id="271" r:id="rId9"/>
    <p:sldId id="274" r:id="rId10"/>
    <p:sldId id="277" r:id="rId11"/>
    <p:sldId id="276" r:id="rId12"/>
    <p:sldId id="281" r:id="rId13"/>
    <p:sldId id="283" r:id="rId14"/>
    <p:sldId id="28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528" userDrawn="1">
          <p15:clr>
            <a:srgbClr val="A4A3A4"/>
          </p15:clr>
        </p15:guide>
        <p15:guide id="4" orient="horz" pos="1152" userDrawn="1">
          <p15:clr>
            <a:srgbClr val="A4A3A4"/>
          </p15:clr>
        </p15:guide>
        <p15:guide id="5" orient="horz" pos="10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26"/>
    <p:restoredTop sz="81707"/>
  </p:normalViewPr>
  <p:slideViewPr>
    <p:cSldViewPr snapToGrid="0" showGuides="1">
      <p:cViewPr varScale="1">
        <p:scale>
          <a:sx n="105" d="100"/>
          <a:sy n="105" d="100"/>
        </p:scale>
        <p:origin x="816" y="200"/>
      </p:cViewPr>
      <p:guideLst>
        <p:guide orient="horz" pos="2160"/>
        <p:guide pos="3840"/>
        <p:guide pos="528"/>
        <p:guide orient="horz" pos="1152"/>
        <p:guide orient="horz" pos="1056"/>
      </p:guideLst>
    </p:cSldViewPr>
  </p:slideViewPr>
  <p:notesTextViewPr>
    <p:cViewPr>
      <p:scale>
        <a:sx n="1" d="1"/>
        <a:sy n="1" d="1"/>
      </p:scale>
      <p:origin x="0" y="0"/>
    </p:cViewPr>
  </p:notesTextViewPr>
  <p:notesViewPr>
    <p:cSldViewPr snapToGrid="0" showGuides="1">
      <p:cViewPr varScale="1">
        <p:scale>
          <a:sx n="103" d="100"/>
          <a:sy n="103" d="100"/>
        </p:scale>
        <p:origin x="3832"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C11589B-7158-5E31-38D1-69A8DDA556F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4ACC367-8E12-A47D-567E-23E8A5ACA67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EF6A99-1E6B-FC41-BF6C-3A590D8B44E6}" type="datetimeFigureOut">
              <a:rPr lang="en-US" smtClean="0"/>
              <a:t>4/13/26</a:t>
            </a:fld>
            <a:endParaRPr lang="en-US"/>
          </a:p>
        </p:txBody>
      </p:sp>
      <p:sp>
        <p:nvSpPr>
          <p:cNvPr id="4" name="Footer Placeholder 3">
            <a:extLst>
              <a:ext uri="{FF2B5EF4-FFF2-40B4-BE49-F238E27FC236}">
                <a16:creationId xmlns:a16="http://schemas.microsoft.com/office/drawing/2014/main" id="{1E51C634-A425-AE04-CEC2-5725227AF5F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DA6EE6E-7B2E-C38F-F718-C7A2613FBE1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6EA830-FC79-8546-9840-F7BEFB5EA98D}" type="slidenum">
              <a:rPr lang="en-US" smtClean="0"/>
              <a:t>‹#›</a:t>
            </a:fld>
            <a:endParaRPr lang="en-US"/>
          </a:p>
        </p:txBody>
      </p:sp>
    </p:spTree>
    <p:extLst>
      <p:ext uri="{BB962C8B-B14F-4D97-AF65-F5344CB8AC3E}">
        <p14:creationId xmlns:p14="http://schemas.microsoft.com/office/powerpoint/2010/main" val="126935936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35F56B-7262-2947-A897-35527B47E840}" type="datetimeFigureOut">
              <a:rPr lang="en-US" smtClean="0"/>
              <a:t>4/13/26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D922CC-3034-9348-9A2B-7B9584C08297}" type="slidenum">
              <a:rPr lang="en-US" smtClean="0"/>
              <a:t>‹#›</a:t>
            </a:fld>
            <a:endParaRPr lang="en-US"/>
          </a:p>
        </p:txBody>
      </p:sp>
    </p:spTree>
    <p:extLst>
      <p:ext uri="{BB962C8B-B14F-4D97-AF65-F5344CB8AC3E}">
        <p14:creationId xmlns:p14="http://schemas.microsoft.com/office/powerpoint/2010/main" val="2684951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Good morning everyone. My name is Marmee Pandya and today I will be presenting my seminar work on RAG-driven data cleaning using the </a:t>
            </a:r>
            <a:r>
              <a:rPr lang="en-US" sz="1800" dirty="0" err="1"/>
              <a:t>PyDI</a:t>
            </a:r>
            <a:r>
              <a:rPr lang="en-US" sz="1800" dirty="0"/>
              <a:t> framework. I will take you through the problem, what I built, and what the results tell us.</a:t>
            </a:r>
          </a:p>
        </p:txBody>
      </p:sp>
      <p:sp>
        <p:nvSpPr>
          <p:cNvPr id="4" name="Slide Number Placeholder 3"/>
          <p:cNvSpPr>
            <a:spLocks noGrp="1"/>
          </p:cNvSpPr>
          <p:nvPr>
            <p:ph type="sldNum" sz="quarter" idx="5"/>
          </p:nvPr>
        </p:nvSpPr>
        <p:spPr/>
        <p:txBody>
          <a:bodyPr/>
          <a:lstStyle/>
          <a:p>
            <a:fld id="{1FD922CC-3034-9348-9A2B-7B9584C08297}" type="slidenum">
              <a:rPr lang="en-US" smtClean="0"/>
              <a:t>1</a:t>
            </a:fld>
            <a:endParaRPr lang="en-US"/>
          </a:p>
        </p:txBody>
      </p:sp>
    </p:spTree>
    <p:extLst>
      <p:ext uri="{BB962C8B-B14F-4D97-AF65-F5344CB8AC3E}">
        <p14:creationId xmlns:p14="http://schemas.microsoft.com/office/powerpoint/2010/main" val="12179013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product catalogues are rarely complete. Attributes like model numbers, read speeds, and physical dimensions are missing for large fractions of records. Sellers skip fields, scraping pipelines miss structured specs, and different sources use different schemas. There are two ways to approach this — ask the LLM from memory, which works for general knowledge but fails for exact product specs, or retrieve the answer from a knowledge base, which is what we do.</a:t>
            </a:r>
          </a:p>
        </p:txBody>
      </p:sp>
      <p:sp>
        <p:nvSpPr>
          <p:cNvPr id="4" name="Slide Number Placeholder 3"/>
          <p:cNvSpPr>
            <a:spLocks noGrp="1"/>
          </p:cNvSpPr>
          <p:nvPr>
            <p:ph type="sldNum" sz="quarter" idx="5"/>
          </p:nvPr>
        </p:nvSpPr>
        <p:spPr/>
        <p:txBody>
          <a:bodyPr/>
          <a:lstStyle/>
          <a:p>
            <a:fld id="{1FD922CC-3034-9348-9A2B-7B9584C08297}" type="slidenum">
              <a:rPr lang="en-US" smtClean="0"/>
              <a:t>2</a:t>
            </a:fld>
            <a:endParaRPr lang="en-US"/>
          </a:p>
        </p:txBody>
      </p:sp>
    </p:spTree>
    <p:extLst>
      <p:ext uri="{BB962C8B-B14F-4D97-AF65-F5344CB8AC3E}">
        <p14:creationId xmlns:p14="http://schemas.microsoft.com/office/powerpoint/2010/main" val="33861618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concrete example. This is a row from our dataset. Bus type is filled in but model number, read speed, write speed, height and width are all missing. These are not easy to guess — you cannot infer that a specific SSD reads at exactly 560 MB/s from its product title alone.</a:t>
            </a:r>
          </a:p>
        </p:txBody>
      </p:sp>
      <p:sp>
        <p:nvSpPr>
          <p:cNvPr id="4" name="Slide Number Placeholder 3"/>
          <p:cNvSpPr>
            <a:spLocks noGrp="1"/>
          </p:cNvSpPr>
          <p:nvPr>
            <p:ph type="sldNum" sz="quarter" idx="5"/>
          </p:nvPr>
        </p:nvSpPr>
        <p:spPr/>
        <p:txBody>
          <a:bodyPr/>
          <a:lstStyle/>
          <a:p>
            <a:fld id="{1FD922CC-3034-9348-9A2B-7B9584C08297}" type="slidenum">
              <a:rPr lang="en-US" smtClean="0"/>
              <a:t>3</a:t>
            </a:fld>
            <a:endParaRPr lang="en-US"/>
          </a:p>
        </p:txBody>
      </p:sp>
    </p:spTree>
    <p:extLst>
      <p:ext uri="{BB962C8B-B14F-4D97-AF65-F5344CB8AC3E}">
        <p14:creationId xmlns:p14="http://schemas.microsoft.com/office/powerpoint/2010/main" val="3209753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describe what I built, let me give context on the work that inspired it — </a:t>
            </a:r>
            <a:r>
              <a:rPr lang="en-US" dirty="0" err="1"/>
              <a:t>RetClean</a:t>
            </a:r>
            <a:r>
              <a:rPr lang="en-US" dirty="0"/>
              <a:t>, published at VLDB 2024. The key insight is that LLMs are great at general knowledge but fail for enterprise data they have never seen. </a:t>
            </a:r>
            <a:r>
              <a:rPr lang="en-US" dirty="0" err="1"/>
              <a:t>RetClean</a:t>
            </a:r>
            <a:r>
              <a:rPr lang="en-US" dirty="0"/>
              <a:t> proposes three scenarios — cloud LLM only, cloud LLM with retrieval, and local LLM with retrieval for privacy. Our work is essentially Scenario 3 — a local Llama 3.1 8B combined with retrieval from a product knowledge base.</a:t>
            </a:r>
          </a:p>
        </p:txBody>
      </p:sp>
      <p:sp>
        <p:nvSpPr>
          <p:cNvPr id="4" name="Slide Number Placeholder 3"/>
          <p:cNvSpPr>
            <a:spLocks noGrp="1"/>
          </p:cNvSpPr>
          <p:nvPr>
            <p:ph type="sldNum" sz="quarter" idx="5"/>
          </p:nvPr>
        </p:nvSpPr>
        <p:spPr/>
        <p:txBody>
          <a:bodyPr/>
          <a:lstStyle/>
          <a:p>
            <a:fld id="{1FD922CC-3034-9348-9A2B-7B9584C08297}" type="slidenum">
              <a:rPr lang="en-US" smtClean="0"/>
              <a:t>4</a:t>
            </a:fld>
            <a:endParaRPr lang="en-US"/>
          </a:p>
        </p:txBody>
      </p:sp>
    </p:spTree>
    <p:extLst>
      <p:ext uri="{BB962C8B-B14F-4D97-AF65-F5344CB8AC3E}">
        <p14:creationId xmlns:p14="http://schemas.microsoft.com/office/powerpoint/2010/main" val="38909010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
            </a:r>
            <a:r>
              <a:rPr lang="en-US" dirty="0" err="1"/>
              <a:t>RetClean</a:t>
            </a:r>
            <a:r>
              <a:rPr lang="en-US" dirty="0"/>
              <a:t> pipeline. A query goes in, top-n candidates are retrieved from a data lake, a </a:t>
            </a:r>
            <a:r>
              <a:rPr lang="en-US" dirty="0" err="1"/>
              <a:t>reranker</a:t>
            </a:r>
            <a:r>
              <a:rPr lang="en-US" dirty="0"/>
              <a:t> selects the best ones, and an LLM extracts the value. Our system follows this design directly — and in experiments 4 and 5 we implement the two-stage retrieval exactly as </a:t>
            </a:r>
            <a:r>
              <a:rPr lang="en-US" dirty="0" err="1"/>
              <a:t>RetClean</a:t>
            </a:r>
            <a:r>
              <a:rPr lang="en-US" dirty="0"/>
              <a:t> proposes.</a:t>
            </a:r>
          </a:p>
        </p:txBody>
      </p:sp>
      <p:sp>
        <p:nvSpPr>
          <p:cNvPr id="4" name="Slide Number Placeholder 3"/>
          <p:cNvSpPr>
            <a:spLocks noGrp="1"/>
          </p:cNvSpPr>
          <p:nvPr>
            <p:ph type="sldNum" sz="quarter" idx="5"/>
          </p:nvPr>
        </p:nvSpPr>
        <p:spPr/>
        <p:txBody>
          <a:bodyPr/>
          <a:lstStyle/>
          <a:p>
            <a:fld id="{1FD922CC-3034-9348-9A2B-7B9584C08297}" type="slidenum">
              <a:rPr lang="en-US" smtClean="0"/>
              <a:t>5</a:t>
            </a:fld>
            <a:endParaRPr lang="en-US"/>
          </a:p>
        </p:txBody>
      </p:sp>
    </p:spTree>
    <p:extLst>
      <p:ext uri="{BB962C8B-B14F-4D97-AF65-F5344CB8AC3E}">
        <p14:creationId xmlns:p14="http://schemas.microsoft.com/office/powerpoint/2010/main" val="3700076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dataset comes from the </a:t>
            </a:r>
            <a:r>
              <a:rPr lang="en-US" dirty="0" err="1"/>
              <a:t>PyDI</a:t>
            </a:r>
            <a:r>
              <a:rPr lang="en-US" dirty="0"/>
              <a:t> project. Dataset 1 is the query set with 812 rows. Datasets 2 through 4 form the knowledge base with 2,200 rows combined. I selected 25 query rows and 51 evaluation tasks across 7 attributes — three text and four numeric. The numeric attributes are particularly interesting because their values simply do not appear in product descriptions — they can only be found in structured KB fields.</a:t>
            </a:r>
          </a:p>
        </p:txBody>
      </p:sp>
      <p:sp>
        <p:nvSpPr>
          <p:cNvPr id="4" name="Slide Number Placeholder 3"/>
          <p:cNvSpPr>
            <a:spLocks noGrp="1"/>
          </p:cNvSpPr>
          <p:nvPr>
            <p:ph type="sldNum" sz="quarter" idx="5"/>
          </p:nvPr>
        </p:nvSpPr>
        <p:spPr/>
        <p:txBody>
          <a:bodyPr/>
          <a:lstStyle/>
          <a:p>
            <a:fld id="{1FD922CC-3034-9348-9A2B-7B9584C08297}" type="slidenum">
              <a:rPr lang="en-US" smtClean="0"/>
              <a:t>6</a:t>
            </a:fld>
            <a:endParaRPr lang="en-US"/>
          </a:p>
        </p:txBody>
      </p:sp>
    </p:spTree>
    <p:extLst>
      <p:ext uri="{BB962C8B-B14F-4D97-AF65-F5344CB8AC3E}">
        <p14:creationId xmlns:p14="http://schemas.microsoft.com/office/powerpoint/2010/main" val="2638902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four configurations. Experiment 1 is a pure LLM baseline — no KB access, establishes the floor. Experiment 2 adds basic RAG with </a:t>
            </a:r>
            <a:r>
              <a:rPr lang="en-US" dirty="0" err="1"/>
              <a:t>MiniLM</a:t>
            </a:r>
            <a:r>
              <a:rPr lang="en-US" dirty="0"/>
              <a:t> top-3 retrieval. Experiment 4a adds </a:t>
            </a:r>
            <a:r>
              <a:rPr lang="en-US" dirty="0" err="1"/>
              <a:t>CrossEncoder</a:t>
            </a:r>
            <a:r>
              <a:rPr lang="en-US" dirty="0"/>
              <a:t> reranking, directly inspired by </a:t>
            </a:r>
            <a:r>
              <a:rPr lang="en-US" dirty="0" err="1"/>
              <a:t>RetClean's</a:t>
            </a:r>
            <a:r>
              <a:rPr lang="en-US" dirty="0"/>
              <a:t> two-stage design. Experiment 5 replaces </a:t>
            </a:r>
            <a:r>
              <a:rPr lang="en-US" dirty="0" err="1"/>
              <a:t>MiniLM</a:t>
            </a:r>
            <a:r>
              <a:rPr lang="en-US" dirty="0"/>
              <a:t> with BGE-large-en-v1.5, a retrieval-</a:t>
            </a:r>
            <a:r>
              <a:rPr lang="en-US" dirty="0" err="1"/>
              <a:t>optimised</a:t>
            </a:r>
            <a:r>
              <a:rPr lang="en-US" dirty="0"/>
              <a:t> embedding model, and adds the product description field for richer context.</a:t>
            </a:r>
          </a:p>
        </p:txBody>
      </p:sp>
      <p:sp>
        <p:nvSpPr>
          <p:cNvPr id="4" name="Slide Number Placeholder 3"/>
          <p:cNvSpPr>
            <a:spLocks noGrp="1"/>
          </p:cNvSpPr>
          <p:nvPr>
            <p:ph type="sldNum" sz="quarter" idx="5"/>
          </p:nvPr>
        </p:nvSpPr>
        <p:spPr/>
        <p:txBody>
          <a:bodyPr/>
          <a:lstStyle/>
          <a:p>
            <a:fld id="{1FD922CC-3034-9348-9A2B-7B9584C08297}" type="slidenum">
              <a:rPr lang="en-US" smtClean="0"/>
              <a:t>7</a:t>
            </a:fld>
            <a:endParaRPr lang="en-US"/>
          </a:p>
        </p:txBody>
      </p:sp>
    </p:spTree>
    <p:extLst>
      <p:ext uri="{BB962C8B-B14F-4D97-AF65-F5344CB8AC3E}">
        <p14:creationId xmlns:p14="http://schemas.microsoft.com/office/powerpoint/2010/main" val="36298615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full pipeline for Experiment 5. The query product is encoded by BGE-large. We retrieve the top-20 most similar KB products by cosine similarity. The </a:t>
            </a:r>
            <a:r>
              <a:rPr lang="en-US" dirty="0" err="1"/>
              <a:t>CrossEncoder</a:t>
            </a:r>
            <a:r>
              <a:rPr lang="en-US" dirty="0"/>
              <a:t> then </a:t>
            </a:r>
            <a:r>
              <a:rPr lang="en-US" dirty="0" err="1"/>
              <a:t>reranks</a:t>
            </a:r>
            <a:r>
              <a:rPr lang="en-US" dirty="0"/>
              <a:t> those 20 pairwise to select the best 5, which go to Llama as reference products. Llama predicts using per-attribute few-shot prompts. For evaluation, text attributes use </a:t>
            </a:r>
            <a:r>
              <a:rPr lang="en-US" dirty="0" err="1"/>
              <a:t>CrossEncoder</a:t>
            </a:r>
            <a:r>
              <a:rPr lang="en-US" dirty="0"/>
              <a:t> similarity scoring and numeric attributes use a 10% tolerance rule. Everything runs locally on a </a:t>
            </a:r>
            <a:r>
              <a:rPr lang="en-US" dirty="0" err="1"/>
              <a:t>bwUniCluster</a:t>
            </a:r>
            <a:r>
              <a:rPr lang="en-US" dirty="0"/>
              <a:t> A100 GPU.</a:t>
            </a:r>
          </a:p>
        </p:txBody>
      </p:sp>
      <p:sp>
        <p:nvSpPr>
          <p:cNvPr id="4" name="Slide Number Placeholder 3"/>
          <p:cNvSpPr>
            <a:spLocks noGrp="1"/>
          </p:cNvSpPr>
          <p:nvPr>
            <p:ph type="sldNum" sz="quarter" idx="5"/>
          </p:nvPr>
        </p:nvSpPr>
        <p:spPr/>
        <p:txBody>
          <a:bodyPr/>
          <a:lstStyle/>
          <a:p>
            <a:fld id="{1FD922CC-3034-9348-9A2B-7B9584C08297}" type="slidenum">
              <a:rPr lang="en-US" smtClean="0"/>
              <a:t>8</a:t>
            </a:fld>
            <a:endParaRPr lang="en-US"/>
          </a:p>
        </p:txBody>
      </p:sp>
    </p:spTree>
    <p:extLst>
      <p:ext uri="{BB962C8B-B14F-4D97-AF65-F5344CB8AC3E}">
        <p14:creationId xmlns:p14="http://schemas.microsoft.com/office/powerpoint/2010/main" val="27994827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are clear. LLM-only achieves 15.7%. Basic RAG immediately jumps to 62.7% — a 4x improvement just from adding retrieval. The </a:t>
            </a:r>
            <a:r>
              <a:rPr lang="en-US" dirty="0" err="1"/>
              <a:t>CrossEncoder</a:t>
            </a:r>
            <a:r>
              <a:rPr lang="en-US" dirty="0"/>
              <a:t> </a:t>
            </a:r>
            <a:r>
              <a:rPr lang="en-US" dirty="0" err="1"/>
              <a:t>reranker</a:t>
            </a:r>
            <a:r>
              <a:rPr lang="en-US" dirty="0"/>
              <a:t> pushes this to 70.6%. BGE achieves 78.4% standard accuracy and 82.4% semantic evaluation — the best of all configurations. The UNKNOWN rate for BGE is only 3.9% — BGE almost never refuses to answer. One important note at the bottom — experiments 1 and 2 use LLM-based semantic evaluation, while 4 and 5 use </a:t>
            </a:r>
            <a:r>
              <a:rPr lang="en-US" dirty="0" err="1"/>
              <a:t>CrossEncoder</a:t>
            </a:r>
            <a:r>
              <a:rPr lang="en-US" dirty="0"/>
              <a:t> evaluation which removes self-evaluation bias.</a:t>
            </a:r>
          </a:p>
        </p:txBody>
      </p:sp>
      <p:sp>
        <p:nvSpPr>
          <p:cNvPr id="4" name="Slide Number Placeholder 3"/>
          <p:cNvSpPr>
            <a:spLocks noGrp="1"/>
          </p:cNvSpPr>
          <p:nvPr>
            <p:ph type="sldNum" sz="quarter" idx="5"/>
          </p:nvPr>
        </p:nvSpPr>
        <p:spPr/>
        <p:txBody>
          <a:bodyPr/>
          <a:lstStyle/>
          <a:p>
            <a:fld id="{1FD922CC-3034-9348-9A2B-7B9584C08297}" type="slidenum">
              <a:rPr lang="en-US" smtClean="0"/>
              <a:t>9</a:t>
            </a:fld>
            <a:endParaRPr lang="en-US"/>
          </a:p>
        </p:txBody>
      </p:sp>
    </p:spTree>
    <p:extLst>
      <p:ext uri="{BB962C8B-B14F-4D97-AF65-F5344CB8AC3E}">
        <p14:creationId xmlns:p14="http://schemas.microsoft.com/office/powerpoint/2010/main" val="27881249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heatmap shows the full per-attribute breakdown. The pattern is clear — all numeric attributes start at zero for LLM-only and improve dramatically with retrieval. </a:t>
            </a:r>
            <a:r>
              <a:rPr lang="en-US" dirty="0" err="1"/>
              <a:t>Model_number</a:t>
            </a:r>
            <a:r>
              <a:rPr lang="en-US" dirty="0"/>
              <a:t> benefits most from </a:t>
            </a:r>
            <a:r>
              <a:rPr lang="en-US" dirty="0" err="1"/>
              <a:t>CrossEncoder</a:t>
            </a:r>
            <a:r>
              <a:rPr lang="en-US" dirty="0"/>
              <a:t> reranking. BGE performs particularly well on dimension attributes — height and width — which were the hardest attributes in earlier configurations.</a:t>
            </a:r>
          </a:p>
        </p:txBody>
      </p:sp>
      <p:sp>
        <p:nvSpPr>
          <p:cNvPr id="4" name="Slide Number Placeholder 3"/>
          <p:cNvSpPr>
            <a:spLocks noGrp="1"/>
          </p:cNvSpPr>
          <p:nvPr>
            <p:ph type="sldNum" sz="quarter" idx="5"/>
          </p:nvPr>
        </p:nvSpPr>
        <p:spPr/>
        <p:txBody>
          <a:bodyPr/>
          <a:lstStyle/>
          <a:p>
            <a:fld id="{1FD922CC-3034-9348-9A2B-7B9584C08297}" type="slidenum">
              <a:rPr lang="en-US" smtClean="0"/>
              <a:t>10</a:t>
            </a:fld>
            <a:endParaRPr lang="en-US"/>
          </a:p>
        </p:txBody>
      </p:sp>
    </p:spTree>
    <p:extLst>
      <p:ext uri="{BB962C8B-B14F-4D97-AF65-F5344CB8AC3E}">
        <p14:creationId xmlns:p14="http://schemas.microsoft.com/office/powerpoint/2010/main" val="3078006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single finding. LLM-only achieves exactly 0% on every numeric attribute. Not low — zero. There is nothing to extract from a product description. With retrieval these values are found verbatim in structured KB fields and the LLM simply copies the right number. Read speed goes from 0 to 90%. Write speed reaches 100% with basic RAG. </a:t>
            </a:r>
            <a:r>
              <a:rPr lang="en-US" dirty="0" err="1"/>
              <a:t>Width_mm</a:t>
            </a:r>
            <a:r>
              <a:rPr lang="en-US" dirty="0"/>
              <a:t> reaches 83% with BGE.</a:t>
            </a:r>
          </a:p>
        </p:txBody>
      </p:sp>
      <p:sp>
        <p:nvSpPr>
          <p:cNvPr id="4" name="Slide Number Placeholder 3"/>
          <p:cNvSpPr>
            <a:spLocks noGrp="1"/>
          </p:cNvSpPr>
          <p:nvPr>
            <p:ph type="sldNum" sz="quarter" idx="5"/>
          </p:nvPr>
        </p:nvSpPr>
        <p:spPr/>
        <p:txBody>
          <a:bodyPr/>
          <a:lstStyle/>
          <a:p>
            <a:fld id="{1FD922CC-3034-9348-9A2B-7B9584C08297}" type="slidenum">
              <a:rPr lang="en-US" smtClean="0"/>
              <a:t>11</a:t>
            </a:fld>
            <a:endParaRPr lang="en-US"/>
          </a:p>
        </p:txBody>
      </p:sp>
    </p:spTree>
    <p:extLst>
      <p:ext uri="{BB962C8B-B14F-4D97-AF65-F5344CB8AC3E}">
        <p14:creationId xmlns:p14="http://schemas.microsoft.com/office/powerpoint/2010/main" val="28018505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a:t>
            </a:r>
            <a:r>
              <a:rPr lang="en-US" dirty="0" err="1"/>
              <a:t>summarises</a:t>
            </a:r>
            <a:r>
              <a:rPr lang="en-US" dirty="0"/>
              <a:t> the contrast between text and numeric attributes. For text attributes the LLM already has some baseline ability — </a:t>
            </a:r>
            <a:r>
              <a:rPr lang="en-US" dirty="0" err="1"/>
              <a:t>bus_type</a:t>
            </a:r>
            <a:r>
              <a:rPr lang="en-US" dirty="0"/>
              <a:t> is 28% for LLM-only because the LLM understands PCIe and SATA. For numeric attributes the baseline is literally zero. Retrieval helps both categories but the gain is far more dramatic for </a:t>
            </a:r>
            <a:r>
              <a:rPr lang="en-US" dirty="0" err="1"/>
              <a:t>numerics</a:t>
            </a:r>
            <a:r>
              <a:rPr lang="en-US" dirty="0"/>
              <a:t>.</a:t>
            </a:r>
          </a:p>
        </p:txBody>
      </p:sp>
      <p:sp>
        <p:nvSpPr>
          <p:cNvPr id="4" name="Slide Number Placeholder 3"/>
          <p:cNvSpPr>
            <a:spLocks noGrp="1"/>
          </p:cNvSpPr>
          <p:nvPr>
            <p:ph type="sldNum" sz="quarter" idx="5"/>
          </p:nvPr>
        </p:nvSpPr>
        <p:spPr/>
        <p:txBody>
          <a:bodyPr/>
          <a:lstStyle/>
          <a:p>
            <a:fld id="{1FD922CC-3034-9348-9A2B-7B9584C08297}" type="slidenum">
              <a:rPr lang="en-US" smtClean="0"/>
              <a:t>12</a:t>
            </a:fld>
            <a:endParaRPr lang="en-US"/>
          </a:p>
        </p:txBody>
      </p:sp>
    </p:spTree>
    <p:extLst>
      <p:ext uri="{BB962C8B-B14F-4D97-AF65-F5344CB8AC3E}">
        <p14:creationId xmlns:p14="http://schemas.microsoft.com/office/powerpoint/2010/main" val="38501305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RAG transforms data cleaning from guesswork into retrieval — 15.7% to 78.4%. Numeric attributes are where retrieval matters most — impossible without a KB, trivial with one. Two-stage retrieval has trade-offs — </a:t>
            </a:r>
            <a:r>
              <a:rPr lang="en-US" dirty="0" err="1"/>
              <a:t>CrossEncoder</a:t>
            </a:r>
            <a:r>
              <a:rPr lang="en-US" dirty="0"/>
              <a:t> helps </a:t>
            </a:r>
            <a:r>
              <a:rPr lang="en-US" dirty="0" err="1"/>
              <a:t>model_number</a:t>
            </a:r>
            <a:r>
              <a:rPr lang="en-US" dirty="0"/>
              <a:t>, BGE helps dimensions, neither dominates completely. The remaining bottleneck is retrieval precision — failures occur when the </a:t>
            </a:r>
            <a:r>
              <a:rPr lang="en-US" dirty="0" err="1"/>
              <a:t>CrossEncoder</a:t>
            </a:r>
            <a:r>
              <a:rPr lang="en-US" dirty="0"/>
              <a:t> selects the wrong product variant, not because the value is missing from the KB. And future work should focus on fine-tuned product matching models and consistent entity resolution.</a:t>
            </a:r>
          </a:p>
        </p:txBody>
      </p:sp>
      <p:sp>
        <p:nvSpPr>
          <p:cNvPr id="4" name="Slide Number Placeholder 3"/>
          <p:cNvSpPr>
            <a:spLocks noGrp="1"/>
          </p:cNvSpPr>
          <p:nvPr>
            <p:ph type="sldNum" sz="quarter" idx="5"/>
          </p:nvPr>
        </p:nvSpPr>
        <p:spPr/>
        <p:txBody>
          <a:bodyPr/>
          <a:lstStyle/>
          <a:p>
            <a:fld id="{1FD922CC-3034-9348-9A2B-7B9584C08297}" type="slidenum">
              <a:rPr lang="en-US" smtClean="0"/>
              <a:t>13</a:t>
            </a:fld>
            <a:endParaRPr lang="en-US"/>
          </a:p>
        </p:txBody>
      </p:sp>
    </p:spTree>
    <p:extLst>
      <p:ext uri="{BB962C8B-B14F-4D97-AF65-F5344CB8AC3E}">
        <p14:creationId xmlns:p14="http://schemas.microsoft.com/office/powerpoint/2010/main" val="36956272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p>
        </p:txBody>
      </p:sp>
      <p:sp>
        <p:nvSpPr>
          <p:cNvPr id="4" name="Slide Number Placeholder 3"/>
          <p:cNvSpPr>
            <a:spLocks noGrp="1"/>
          </p:cNvSpPr>
          <p:nvPr>
            <p:ph type="sldNum" sz="quarter" idx="5"/>
          </p:nvPr>
        </p:nvSpPr>
        <p:spPr/>
        <p:txBody>
          <a:bodyPr/>
          <a:lstStyle/>
          <a:p>
            <a:fld id="{1FD922CC-3034-9348-9A2B-7B9584C08297}" type="slidenum">
              <a:rPr lang="en-US" smtClean="0"/>
              <a:t>14</a:t>
            </a:fld>
            <a:endParaRPr lang="en-US"/>
          </a:p>
        </p:txBody>
      </p:sp>
    </p:spTree>
    <p:extLst>
      <p:ext uri="{BB962C8B-B14F-4D97-AF65-F5344CB8AC3E}">
        <p14:creationId xmlns:p14="http://schemas.microsoft.com/office/powerpoint/2010/main" val="3537725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67339-B2AB-FF2C-8244-0D6D97D2A9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72BE6D-35D5-1511-DE5E-DABD60A175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7E7EA6D-B9D6-FDA4-A3F9-6638D62BC9A3}"/>
              </a:ext>
            </a:extLst>
          </p:cNvPr>
          <p:cNvSpPr>
            <a:spLocks noGrp="1"/>
          </p:cNvSpPr>
          <p:nvPr>
            <p:ph type="dt" sz="half" idx="10"/>
          </p:nvPr>
        </p:nvSpPr>
        <p:spPr/>
        <p:txBody>
          <a:bodyPr/>
          <a:lstStyle/>
          <a:p>
            <a:fld id="{25FD5735-76AF-2744-9176-BDB9C84D17DB}" type="datetime1">
              <a:rPr lang="en-US" smtClean="0"/>
              <a:t>4/13/26</a:t>
            </a:fld>
            <a:endParaRPr lang="en-US"/>
          </a:p>
        </p:txBody>
      </p:sp>
      <p:sp>
        <p:nvSpPr>
          <p:cNvPr id="5" name="Footer Placeholder 4">
            <a:extLst>
              <a:ext uri="{FF2B5EF4-FFF2-40B4-BE49-F238E27FC236}">
                <a16:creationId xmlns:a16="http://schemas.microsoft.com/office/drawing/2014/main" id="{6685859E-12DC-8621-1B88-530BB89204FA}"/>
              </a:ext>
            </a:extLst>
          </p:cNvPr>
          <p:cNvSpPr>
            <a:spLocks noGrp="1"/>
          </p:cNvSpPr>
          <p:nvPr>
            <p:ph type="ftr" sz="quarter" idx="11"/>
          </p:nvPr>
        </p:nvSpPr>
        <p:spPr/>
        <p:txBody>
          <a:body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1B8954DC-BCC9-6E62-3886-4FC33FD9B959}"/>
              </a:ext>
            </a:extLst>
          </p:cNvPr>
          <p:cNvSpPr>
            <a:spLocks noGrp="1"/>
          </p:cNvSpPr>
          <p:nvPr>
            <p:ph type="sldNum" sz="quarter" idx="12"/>
          </p:nvPr>
        </p:nvSpPr>
        <p:spPr/>
        <p:txBody>
          <a:bodyPr/>
          <a:lstStyle>
            <a:lvl1pPr>
              <a:defRPr/>
            </a:lvl1pPr>
          </a:lstStyle>
          <a:p>
            <a:fld id="{FCA5A608-CBA3-F04D-B6B4-44BA9128A093}" type="slidenum">
              <a:rPr lang="en-US" smtClean="0"/>
              <a:pPr/>
              <a:t>‹#›</a:t>
            </a:fld>
            <a:endParaRPr lang="en-US" dirty="0"/>
          </a:p>
        </p:txBody>
      </p:sp>
    </p:spTree>
    <p:extLst>
      <p:ext uri="{BB962C8B-B14F-4D97-AF65-F5344CB8AC3E}">
        <p14:creationId xmlns:p14="http://schemas.microsoft.com/office/powerpoint/2010/main" val="344225005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4DFEE-ECCC-3B86-298A-80C25A5D2E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C6EEB-7BF6-4451-783F-3F336F44434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7DAF48-3EAF-6F51-CE03-F5AE225A2047}"/>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6E6765D7-7AF8-94B2-A054-9FBE6E0EABBB}"/>
              </a:ext>
            </a:extLst>
          </p:cNvPr>
          <p:cNvSpPr>
            <a:spLocks noGrp="1"/>
          </p:cNvSpPr>
          <p:nvPr>
            <p:ph type="ftr" sz="quarter" idx="11"/>
          </p:nvPr>
        </p:nvSpPr>
        <p:spPr/>
        <p:txBody>
          <a:body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03848D0D-981A-B90E-1AE4-A6C4C05D313B}"/>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30413539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10400-F06D-AC30-8ABF-168E71DD00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F6EAD3-EE35-D5E4-4126-A1312054AC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75D822-D3E2-1D13-E265-874A43770572}"/>
              </a:ext>
            </a:extLst>
          </p:cNvPr>
          <p:cNvSpPr>
            <a:spLocks noGrp="1"/>
          </p:cNvSpPr>
          <p:nvPr>
            <p:ph type="dt" sz="half" idx="10"/>
          </p:nvPr>
        </p:nvSpPr>
        <p:spPr/>
        <p:txBody>
          <a:bodyPr/>
          <a:lstStyle/>
          <a:p>
            <a:fld id="{DCCBE327-A632-B146-B14D-8ACA21F50A21}" type="datetime1">
              <a:rPr lang="en-US" smtClean="0"/>
              <a:t>4/13/26</a:t>
            </a:fld>
            <a:endParaRPr lang="en-US"/>
          </a:p>
        </p:txBody>
      </p:sp>
      <p:sp>
        <p:nvSpPr>
          <p:cNvPr id="5" name="Footer Placeholder 4">
            <a:extLst>
              <a:ext uri="{FF2B5EF4-FFF2-40B4-BE49-F238E27FC236}">
                <a16:creationId xmlns:a16="http://schemas.microsoft.com/office/drawing/2014/main" id="{02FFA17F-356B-02D6-2EC8-B9226CCBE17B}"/>
              </a:ext>
            </a:extLst>
          </p:cNvPr>
          <p:cNvSpPr>
            <a:spLocks noGrp="1"/>
          </p:cNvSpPr>
          <p:nvPr>
            <p:ph type="ftr" sz="quarter" idx="11"/>
          </p:nvPr>
        </p:nvSpPr>
        <p:spPr/>
        <p:txBody>
          <a:body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22828C43-B4FB-EAD4-B3D1-A6B0C29EFE8E}"/>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636190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C38E0-5674-75C0-8402-03E391D661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2A52D0-1FEE-90EF-7EDE-141705F8AE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BA8977F-6410-71A5-C203-AB20EA8B0C0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2A97000-96CF-6B86-C0BE-391601C109D6}"/>
              </a:ext>
            </a:extLst>
          </p:cNvPr>
          <p:cNvSpPr>
            <a:spLocks noGrp="1"/>
          </p:cNvSpPr>
          <p:nvPr>
            <p:ph type="dt" sz="half" idx="10"/>
          </p:nvPr>
        </p:nvSpPr>
        <p:spPr/>
        <p:txBody>
          <a:bodyPr/>
          <a:lstStyle/>
          <a:p>
            <a:fld id="{5AB83084-0923-4149-8507-6A8ACFA070CB}" type="datetime1">
              <a:rPr lang="en-US" smtClean="0"/>
              <a:t>4/13/26</a:t>
            </a:fld>
            <a:endParaRPr lang="en-US"/>
          </a:p>
        </p:txBody>
      </p:sp>
      <p:sp>
        <p:nvSpPr>
          <p:cNvPr id="6" name="Footer Placeholder 5">
            <a:extLst>
              <a:ext uri="{FF2B5EF4-FFF2-40B4-BE49-F238E27FC236}">
                <a16:creationId xmlns:a16="http://schemas.microsoft.com/office/drawing/2014/main" id="{B75E117E-210A-B4F0-D227-4D5EFF303613}"/>
              </a:ext>
            </a:extLst>
          </p:cNvPr>
          <p:cNvSpPr>
            <a:spLocks noGrp="1"/>
          </p:cNvSpPr>
          <p:nvPr>
            <p:ph type="ftr" sz="quarter" idx="11"/>
          </p:nvPr>
        </p:nvSpPr>
        <p:spPr/>
        <p:txBody>
          <a:bodyPr/>
          <a:lstStyle/>
          <a:p>
            <a:r>
              <a:rPr lang="en-US" b="1" dirty="0"/>
              <a:t>Seminar CS715: Solving Complex Tasks using LLMs</a:t>
            </a:r>
          </a:p>
        </p:txBody>
      </p:sp>
      <p:sp>
        <p:nvSpPr>
          <p:cNvPr id="7" name="Slide Number Placeholder 6">
            <a:extLst>
              <a:ext uri="{FF2B5EF4-FFF2-40B4-BE49-F238E27FC236}">
                <a16:creationId xmlns:a16="http://schemas.microsoft.com/office/drawing/2014/main" id="{4A06446D-5557-B5F8-A03E-67E02DB27751}"/>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41432795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A9192-22FB-C110-D682-B110CFB94C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3381A7B-58B5-CB12-DD6A-EFACB09352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F343FC-DD91-A13B-BA1F-67EF313CC2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29CA34-C8F7-6FF9-282B-0E342B1A989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276AD7-8E5F-B968-6D7C-F208BD60EEB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974391A-3649-6949-2682-4893DF3FC2E7}"/>
              </a:ext>
            </a:extLst>
          </p:cNvPr>
          <p:cNvSpPr>
            <a:spLocks noGrp="1"/>
          </p:cNvSpPr>
          <p:nvPr>
            <p:ph type="dt" sz="half" idx="10"/>
          </p:nvPr>
        </p:nvSpPr>
        <p:spPr/>
        <p:txBody>
          <a:bodyPr/>
          <a:lstStyle/>
          <a:p>
            <a:fld id="{2F642604-6E03-674F-813F-14806DAD5D17}" type="datetime1">
              <a:rPr lang="en-US" smtClean="0"/>
              <a:t>4/13/26</a:t>
            </a:fld>
            <a:endParaRPr lang="en-US"/>
          </a:p>
        </p:txBody>
      </p:sp>
      <p:sp>
        <p:nvSpPr>
          <p:cNvPr id="8" name="Footer Placeholder 7">
            <a:extLst>
              <a:ext uri="{FF2B5EF4-FFF2-40B4-BE49-F238E27FC236}">
                <a16:creationId xmlns:a16="http://schemas.microsoft.com/office/drawing/2014/main" id="{8118F236-19F0-A84D-1245-BBF7338FE744}"/>
              </a:ext>
            </a:extLst>
          </p:cNvPr>
          <p:cNvSpPr>
            <a:spLocks noGrp="1"/>
          </p:cNvSpPr>
          <p:nvPr>
            <p:ph type="ftr" sz="quarter" idx="11"/>
          </p:nvPr>
        </p:nvSpPr>
        <p:spPr/>
        <p:txBody>
          <a:bodyPr/>
          <a:lstStyle/>
          <a:p>
            <a:r>
              <a:rPr lang="en-US" b="1" dirty="0"/>
              <a:t>Seminar CS715: Solving Complex Tasks using LLMs</a:t>
            </a:r>
          </a:p>
        </p:txBody>
      </p:sp>
      <p:sp>
        <p:nvSpPr>
          <p:cNvPr id="9" name="Slide Number Placeholder 8">
            <a:extLst>
              <a:ext uri="{FF2B5EF4-FFF2-40B4-BE49-F238E27FC236}">
                <a16:creationId xmlns:a16="http://schemas.microsoft.com/office/drawing/2014/main" id="{A10B4694-550A-76E7-9330-F2D20EB65BA3}"/>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41029509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D5A11-2C05-A4C7-CC08-84607994A19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760C92-E1BC-91AB-59A5-679DE05DCD7C}"/>
              </a:ext>
            </a:extLst>
          </p:cNvPr>
          <p:cNvSpPr>
            <a:spLocks noGrp="1"/>
          </p:cNvSpPr>
          <p:nvPr>
            <p:ph type="dt" sz="half" idx="10"/>
          </p:nvPr>
        </p:nvSpPr>
        <p:spPr/>
        <p:txBody>
          <a:bodyPr/>
          <a:lstStyle/>
          <a:p>
            <a:fld id="{C8CEA204-3F1C-824B-B5CB-29B3DE0FC09A}" type="datetime1">
              <a:rPr lang="en-US" smtClean="0"/>
              <a:t>4/13/26</a:t>
            </a:fld>
            <a:endParaRPr lang="en-US"/>
          </a:p>
        </p:txBody>
      </p:sp>
      <p:sp>
        <p:nvSpPr>
          <p:cNvPr id="4" name="Footer Placeholder 3">
            <a:extLst>
              <a:ext uri="{FF2B5EF4-FFF2-40B4-BE49-F238E27FC236}">
                <a16:creationId xmlns:a16="http://schemas.microsoft.com/office/drawing/2014/main" id="{6D7F3E78-80AC-5397-2922-B28C655BB2A5}"/>
              </a:ext>
            </a:extLst>
          </p:cNvPr>
          <p:cNvSpPr>
            <a:spLocks noGrp="1"/>
          </p:cNvSpPr>
          <p:nvPr>
            <p:ph type="ftr" sz="quarter" idx="11"/>
          </p:nvPr>
        </p:nvSpPr>
        <p:spPr/>
        <p:txBody>
          <a:bodyPr/>
          <a:lstStyle/>
          <a:p>
            <a:r>
              <a:rPr lang="en-US" b="1" dirty="0"/>
              <a:t>Seminar CS715: Solving Complex Tasks using LLMs</a:t>
            </a:r>
          </a:p>
        </p:txBody>
      </p:sp>
      <p:sp>
        <p:nvSpPr>
          <p:cNvPr id="5" name="Slide Number Placeholder 4">
            <a:extLst>
              <a:ext uri="{FF2B5EF4-FFF2-40B4-BE49-F238E27FC236}">
                <a16:creationId xmlns:a16="http://schemas.microsoft.com/office/drawing/2014/main" id="{E1EE81D1-80CD-E8DF-50CF-7C9F51780DA0}"/>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13821460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9EA765C-A21A-7D0B-53E7-BEFD2ADA52A2}"/>
              </a:ext>
            </a:extLst>
          </p:cNvPr>
          <p:cNvSpPr>
            <a:spLocks noGrp="1"/>
          </p:cNvSpPr>
          <p:nvPr>
            <p:ph type="dt" sz="half" idx="10"/>
          </p:nvPr>
        </p:nvSpPr>
        <p:spPr/>
        <p:txBody>
          <a:bodyPr/>
          <a:lstStyle/>
          <a:p>
            <a:fld id="{2DC6C977-130B-A646-B68C-E4D2F6F41668}" type="datetime1">
              <a:rPr lang="en-US" smtClean="0"/>
              <a:t>4/13/26</a:t>
            </a:fld>
            <a:endParaRPr lang="en-US"/>
          </a:p>
        </p:txBody>
      </p:sp>
      <p:sp>
        <p:nvSpPr>
          <p:cNvPr id="3" name="Footer Placeholder 2">
            <a:extLst>
              <a:ext uri="{FF2B5EF4-FFF2-40B4-BE49-F238E27FC236}">
                <a16:creationId xmlns:a16="http://schemas.microsoft.com/office/drawing/2014/main" id="{0695931B-B0A3-FD86-FF82-70681A8E4814}"/>
              </a:ext>
            </a:extLst>
          </p:cNvPr>
          <p:cNvSpPr>
            <a:spLocks noGrp="1"/>
          </p:cNvSpPr>
          <p:nvPr>
            <p:ph type="ftr" sz="quarter" idx="11"/>
          </p:nvPr>
        </p:nvSpPr>
        <p:spPr/>
        <p:txBody>
          <a:bodyPr/>
          <a:lstStyle/>
          <a:p>
            <a:r>
              <a:rPr lang="en-US" b="1" dirty="0"/>
              <a:t>Seminar CS715: Solving Complex Tasks using LLMs</a:t>
            </a:r>
          </a:p>
        </p:txBody>
      </p:sp>
      <p:sp>
        <p:nvSpPr>
          <p:cNvPr id="4" name="Slide Number Placeholder 3">
            <a:extLst>
              <a:ext uri="{FF2B5EF4-FFF2-40B4-BE49-F238E27FC236}">
                <a16:creationId xmlns:a16="http://schemas.microsoft.com/office/drawing/2014/main" id="{BB3E3D93-DE49-A376-A688-351B6B3BFDC8}"/>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14964382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0DF8A-CCC0-C97C-6017-949A332DB2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02CCFDB-2F25-42CF-B678-93E9BED003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4CBE5C2-5C4E-433A-31D2-1DE1854DAC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4C06B-FCB6-3976-2448-2B090539A28A}"/>
              </a:ext>
            </a:extLst>
          </p:cNvPr>
          <p:cNvSpPr>
            <a:spLocks noGrp="1"/>
          </p:cNvSpPr>
          <p:nvPr>
            <p:ph type="dt" sz="half" idx="10"/>
          </p:nvPr>
        </p:nvSpPr>
        <p:spPr/>
        <p:txBody>
          <a:bodyPr/>
          <a:lstStyle/>
          <a:p>
            <a:fld id="{1358F770-5DDA-BB4D-A42C-1D1F5FD639B5}" type="datetime1">
              <a:rPr lang="en-US" smtClean="0"/>
              <a:t>4/13/26</a:t>
            </a:fld>
            <a:endParaRPr lang="en-US"/>
          </a:p>
        </p:txBody>
      </p:sp>
      <p:sp>
        <p:nvSpPr>
          <p:cNvPr id="6" name="Footer Placeholder 5">
            <a:extLst>
              <a:ext uri="{FF2B5EF4-FFF2-40B4-BE49-F238E27FC236}">
                <a16:creationId xmlns:a16="http://schemas.microsoft.com/office/drawing/2014/main" id="{980D6F36-07F6-2738-EF7A-3C8FE5F9B351}"/>
              </a:ext>
            </a:extLst>
          </p:cNvPr>
          <p:cNvSpPr>
            <a:spLocks noGrp="1"/>
          </p:cNvSpPr>
          <p:nvPr>
            <p:ph type="ftr" sz="quarter" idx="11"/>
          </p:nvPr>
        </p:nvSpPr>
        <p:spPr/>
        <p:txBody>
          <a:bodyPr/>
          <a:lstStyle/>
          <a:p>
            <a:r>
              <a:rPr lang="en-US" b="1" dirty="0"/>
              <a:t>Seminar CS715: Solving Complex Tasks using LLMs</a:t>
            </a:r>
          </a:p>
        </p:txBody>
      </p:sp>
      <p:sp>
        <p:nvSpPr>
          <p:cNvPr id="7" name="Slide Number Placeholder 6">
            <a:extLst>
              <a:ext uri="{FF2B5EF4-FFF2-40B4-BE49-F238E27FC236}">
                <a16:creationId xmlns:a16="http://schemas.microsoft.com/office/drawing/2014/main" id="{223B298E-ABFE-04F1-EFA5-3E7E0FE6FC79}"/>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249953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75D05-611A-2065-E7AA-3547A7684C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88E534-EE0C-E356-F3B7-F04797B000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871654-C225-080D-15BC-8FBB106E8B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1E0B34-E32F-CB13-67EC-EE2F6929434D}"/>
              </a:ext>
            </a:extLst>
          </p:cNvPr>
          <p:cNvSpPr>
            <a:spLocks noGrp="1"/>
          </p:cNvSpPr>
          <p:nvPr>
            <p:ph type="dt" sz="half" idx="10"/>
          </p:nvPr>
        </p:nvSpPr>
        <p:spPr/>
        <p:txBody>
          <a:bodyPr/>
          <a:lstStyle/>
          <a:p>
            <a:fld id="{A21C24EF-4D42-B945-B4AD-B4248500A475}" type="datetime1">
              <a:rPr lang="en-US" smtClean="0"/>
              <a:t>4/13/26</a:t>
            </a:fld>
            <a:endParaRPr lang="en-US"/>
          </a:p>
        </p:txBody>
      </p:sp>
      <p:sp>
        <p:nvSpPr>
          <p:cNvPr id="6" name="Footer Placeholder 5">
            <a:extLst>
              <a:ext uri="{FF2B5EF4-FFF2-40B4-BE49-F238E27FC236}">
                <a16:creationId xmlns:a16="http://schemas.microsoft.com/office/drawing/2014/main" id="{C7A48845-8967-6877-647C-8A5D625D1C9B}"/>
              </a:ext>
            </a:extLst>
          </p:cNvPr>
          <p:cNvSpPr>
            <a:spLocks noGrp="1"/>
          </p:cNvSpPr>
          <p:nvPr>
            <p:ph type="ftr" sz="quarter" idx="11"/>
          </p:nvPr>
        </p:nvSpPr>
        <p:spPr/>
        <p:txBody>
          <a:bodyPr/>
          <a:lstStyle/>
          <a:p>
            <a:r>
              <a:rPr lang="en-US" b="1" dirty="0"/>
              <a:t>Seminar CS715: Solving Complex Tasks using LLMs</a:t>
            </a:r>
          </a:p>
        </p:txBody>
      </p:sp>
      <p:sp>
        <p:nvSpPr>
          <p:cNvPr id="7" name="Slide Number Placeholder 6">
            <a:extLst>
              <a:ext uri="{FF2B5EF4-FFF2-40B4-BE49-F238E27FC236}">
                <a16:creationId xmlns:a16="http://schemas.microsoft.com/office/drawing/2014/main" id="{80DA4955-8620-4AFA-4B10-83CD62E25984}"/>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281104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EB337-DE9E-2C9F-44D8-145610B8CE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A00BB9-76B5-DD31-C1B3-3086E19D3F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C166E4-1551-3EBF-6DFC-1047C81D5B67}"/>
              </a:ext>
            </a:extLst>
          </p:cNvPr>
          <p:cNvSpPr>
            <a:spLocks noGrp="1"/>
          </p:cNvSpPr>
          <p:nvPr>
            <p:ph type="dt" sz="half" idx="10"/>
          </p:nvPr>
        </p:nvSpPr>
        <p:spPr/>
        <p:txBody>
          <a:bodyPr/>
          <a:lstStyle/>
          <a:p>
            <a:fld id="{1DC4F793-159C-AC42-976D-84187216605E}" type="datetime1">
              <a:rPr lang="en-US" smtClean="0"/>
              <a:t>4/13/26</a:t>
            </a:fld>
            <a:endParaRPr lang="en-US"/>
          </a:p>
        </p:txBody>
      </p:sp>
      <p:sp>
        <p:nvSpPr>
          <p:cNvPr id="5" name="Footer Placeholder 4">
            <a:extLst>
              <a:ext uri="{FF2B5EF4-FFF2-40B4-BE49-F238E27FC236}">
                <a16:creationId xmlns:a16="http://schemas.microsoft.com/office/drawing/2014/main" id="{E546BFE4-178A-06BE-CCDC-960569DDA200}"/>
              </a:ext>
            </a:extLst>
          </p:cNvPr>
          <p:cNvSpPr>
            <a:spLocks noGrp="1"/>
          </p:cNvSpPr>
          <p:nvPr>
            <p:ph type="ftr" sz="quarter" idx="11"/>
          </p:nvPr>
        </p:nvSpPr>
        <p:spPr/>
        <p:txBody>
          <a:body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4239CCD2-1528-19C8-734B-5E2401E3D7FE}"/>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40580745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C9CEBB-5293-9CD9-3A3A-D7B527C9957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AC49E53-DE8E-CE0D-AD65-A95882805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DDEB5A-21D2-71D6-D088-A77C856CC2EE}"/>
              </a:ext>
            </a:extLst>
          </p:cNvPr>
          <p:cNvSpPr>
            <a:spLocks noGrp="1"/>
          </p:cNvSpPr>
          <p:nvPr>
            <p:ph type="dt" sz="half" idx="10"/>
          </p:nvPr>
        </p:nvSpPr>
        <p:spPr/>
        <p:txBody>
          <a:bodyPr/>
          <a:lstStyle/>
          <a:p>
            <a:fld id="{46B88CBC-378E-3447-BC7B-23F4220686D3}" type="datetime1">
              <a:rPr lang="en-US" smtClean="0"/>
              <a:t>4/13/26</a:t>
            </a:fld>
            <a:endParaRPr lang="en-US"/>
          </a:p>
        </p:txBody>
      </p:sp>
      <p:sp>
        <p:nvSpPr>
          <p:cNvPr id="5" name="Footer Placeholder 4">
            <a:extLst>
              <a:ext uri="{FF2B5EF4-FFF2-40B4-BE49-F238E27FC236}">
                <a16:creationId xmlns:a16="http://schemas.microsoft.com/office/drawing/2014/main" id="{4FB5D622-6C4C-2BF3-5215-9BEA48F3F6CA}"/>
              </a:ext>
            </a:extLst>
          </p:cNvPr>
          <p:cNvSpPr>
            <a:spLocks noGrp="1"/>
          </p:cNvSpPr>
          <p:nvPr>
            <p:ph type="ftr" sz="quarter" idx="11"/>
          </p:nvPr>
        </p:nvSpPr>
        <p:spPr/>
        <p:txBody>
          <a:body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8D46EE63-E74A-2095-CAA5-0CEB721591C2}"/>
              </a:ext>
            </a:extLst>
          </p:cNvPr>
          <p:cNvSpPr>
            <a:spLocks noGrp="1"/>
          </p:cNvSpPr>
          <p:nvPr>
            <p:ph type="sldNum" sz="quarter" idx="12"/>
          </p:nvPr>
        </p:nvSpPr>
        <p:spPr/>
        <p:txBody>
          <a:bodyPr/>
          <a:lstStyle/>
          <a:p>
            <a:fld id="{14E2ADB4-C600-2649-8D1D-0066A158FD09}" type="slidenum">
              <a:rPr lang="en-US" smtClean="0"/>
              <a:t>‹#›</a:t>
            </a:fld>
            <a:endParaRPr lang="en-US"/>
          </a:p>
        </p:txBody>
      </p:sp>
    </p:spTree>
    <p:extLst>
      <p:ext uri="{BB962C8B-B14F-4D97-AF65-F5344CB8AC3E}">
        <p14:creationId xmlns:p14="http://schemas.microsoft.com/office/powerpoint/2010/main" val="2979204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142984-9409-C5E7-BF8C-C7EBF7EAC4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CAF41F8-8C71-1776-979B-28E5BB28A4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416F3D-D4E1-1FBC-46FB-B46E82F058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D13DAA-EE21-D241-AE53-5A84BDC15D59}" type="datetime1">
              <a:rPr lang="en-US" smtClean="0"/>
              <a:t>4/13/26</a:t>
            </a:fld>
            <a:endParaRPr lang="en-US"/>
          </a:p>
        </p:txBody>
      </p:sp>
      <p:sp>
        <p:nvSpPr>
          <p:cNvPr id="5" name="Footer Placeholder 4">
            <a:extLst>
              <a:ext uri="{FF2B5EF4-FFF2-40B4-BE49-F238E27FC236}">
                <a16:creationId xmlns:a16="http://schemas.microsoft.com/office/drawing/2014/main" id="{E96C6AB2-F95F-2557-7201-6936E9D44D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b="1" dirty="0"/>
              <a:t>Seminar CS715: Solving Complex Tasks using LLMs</a:t>
            </a:r>
          </a:p>
        </p:txBody>
      </p:sp>
      <p:sp>
        <p:nvSpPr>
          <p:cNvPr id="6" name="Slide Number Placeholder 5">
            <a:extLst>
              <a:ext uri="{FF2B5EF4-FFF2-40B4-BE49-F238E27FC236}">
                <a16:creationId xmlns:a16="http://schemas.microsoft.com/office/drawing/2014/main" id="{54506B4B-1D33-F5CC-D5E2-3793553AF3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E2ADB4-C600-2649-8D1D-0066A158FD09}" type="slidenum">
              <a:rPr lang="en-US" smtClean="0"/>
              <a:t>‹#›</a:t>
            </a:fld>
            <a:endParaRPr lang="en-US"/>
          </a:p>
        </p:txBody>
      </p:sp>
      <p:pic>
        <p:nvPicPr>
          <p:cNvPr id="8" name="Picture 7">
            <a:extLst>
              <a:ext uri="{FF2B5EF4-FFF2-40B4-BE49-F238E27FC236}">
                <a16:creationId xmlns:a16="http://schemas.microsoft.com/office/drawing/2014/main" id="{DFA80614-345F-B0BF-57E2-A60C3A6FC41F}"/>
              </a:ext>
            </a:extLst>
          </p:cNvPr>
          <p:cNvPicPr>
            <a:picLocks noChangeAspect="1"/>
          </p:cNvPicPr>
          <p:nvPr userDrawn="1"/>
        </p:nvPicPr>
        <p:blipFill>
          <a:blip r:embed="rId13"/>
          <a:stretch>
            <a:fillRect/>
          </a:stretch>
        </p:blipFill>
        <p:spPr>
          <a:xfrm>
            <a:off x="10906017" y="0"/>
            <a:ext cx="1285983" cy="857322"/>
          </a:xfrm>
          <a:prstGeom prst="rect">
            <a:avLst/>
          </a:prstGeom>
        </p:spPr>
      </p:pic>
    </p:spTree>
    <p:extLst>
      <p:ext uri="{BB962C8B-B14F-4D97-AF65-F5344CB8AC3E}">
        <p14:creationId xmlns:p14="http://schemas.microsoft.com/office/powerpoint/2010/main" val="37996701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32AE9-19AA-D6D6-2B74-D3ECCB6316BE}"/>
              </a:ext>
            </a:extLst>
          </p:cNvPr>
          <p:cNvSpPr>
            <a:spLocks noGrp="1"/>
          </p:cNvSpPr>
          <p:nvPr>
            <p:ph type="ctrTitle"/>
          </p:nvPr>
        </p:nvSpPr>
        <p:spPr/>
        <p:txBody>
          <a:bodyPr>
            <a:normAutofit/>
          </a:bodyPr>
          <a:lstStyle/>
          <a:p>
            <a:r>
              <a:rPr lang="en-US" b="1" dirty="0">
                <a:latin typeface="Calibri" panose="020F0502020204030204" pitchFamily="34" charset="0"/>
                <a:cs typeface="Calibri" panose="020F0502020204030204" pitchFamily="34" charset="0"/>
              </a:rPr>
              <a:t>RAG-Driven Data Cleaning with </a:t>
            </a:r>
            <a:r>
              <a:rPr lang="en-US" b="1" dirty="0" err="1">
                <a:latin typeface="Calibri" panose="020F0502020204030204" pitchFamily="34" charset="0"/>
                <a:cs typeface="Calibri" panose="020F0502020204030204" pitchFamily="34" charset="0"/>
              </a:rPr>
              <a:t>PyDI</a:t>
            </a:r>
            <a:endParaRPr lang="en-US" dirty="0">
              <a:latin typeface="Calibri" panose="020F0502020204030204" pitchFamily="34" charset="0"/>
              <a:cs typeface="Calibri" panose="020F0502020204030204" pitchFamily="34" charset="0"/>
            </a:endParaRPr>
          </a:p>
        </p:txBody>
      </p:sp>
      <p:sp>
        <p:nvSpPr>
          <p:cNvPr id="3" name="Subtitle 2">
            <a:extLst>
              <a:ext uri="{FF2B5EF4-FFF2-40B4-BE49-F238E27FC236}">
                <a16:creationId xmlns:a16="http://schemas.microsoft.com/office/drawing/2014/main" id="{866E087C-8EE2-A2FF-8C5B-919E83E1F68B}"/>
              </a:ext>
            </a:extLst>
          </p:cNvPr>
          <p:cNvSpPr>
            <a:spLocks noGrp="1"/>
          </p:cNvSpPr>
          <p:nvPr>
            <p:ph type="subTitle" idx="1"/>
          </p:nvPr>
        </p:nvSpPr>
        <p:spPr/>
        <p:txBody>
          <a:bodyPr/>
          <a:lstStyle/>
          <a:p>
            <a:r>
              <a:rPr lang="en-US" dirty="0">
                <a:latin typeface="Calibri" panose="020F0502020204030204" pitchFamily="34" charset="0"/>
                <a:cs typeface="Calibri" panose="020F0502020204030204" pitchFamily="34" charset="0"/>
              </a:rPr>
              <a:t>-Marmee Pandya</a:t>
            </a:r>
          </a:p>
        </p:txBody>
      </p:sp>
      <p:sp>
        <p:nvSpPr>
          <p:cNvPr id="4" name="Date Placeholder 3">
            <a:extLst>
              <a:ext uri="{FF2B5EF4-FFF2-40B4-BE49-F238E27FC236}">
                <a16:creationId xmlns:a16="http://schemas.microsoft.com/office/drawing/2014/main" id="{D4C45271-9BEC-28E4-1B13-13EB2FAC78B3}"/>
              </a:ext>
            </a:extLst>
          </p:cNvPr>
          <p:cNvSpPr>
            <a:spLocks noGrp="1"/>
          </p:cNvSpPr>
          <p:nvPr>
            <p:ph type="dt" sz="half" idx="10"/>
          </p:nvPr>
        </p:nvSpPr>
        <p:spPr/>
        <p:txBody>
          <a:bodyPr/>
          <a:lstStyle/>
          <a:p>
            <a:fld id="{92654575-F908-584D-ACFC-88E1089C0595}"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4AB99DA7-467F-9F9F-F06B-A2BF5220E9EF}"/>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1547C776-E691-03F4-19CB-900D0340DF06}"/>
              </a:ext>
            </a:extLst>
          </p:cNvPr>
          <p:cNvSpPr>
            <a:spLocks noGrp="1"/>
          </p:cNvSpPr>
          <p:nvPr>
            <p:ph type="sldNum" sz="quarter" idx="12"/>
          </p:nvPr>
        </p:nvSpPr>
        <p:spPr/>
        <p:txBody>
          <a:bodyPr/>
          <a:lstStyle/>
          <a:p>
            <a:fld id="{FCA5A608-CBA3-F04D-B6B4-44BA9128A093}" type="slidenum">
              <a:rPr lang="en-US" smtClean="0">
                <a:latin typeface="Calibri" panose="020F0502020204030204" pitchFamily="34" charset="0"/>
                <a:cs typeface="Calibri" panose="020F0502020204030204" pitchFamily="34" charset="0"/>
              </a:rPr>
              <a:pPr/>
              <a:t>1</a:t>
            </a:fld>
            <a:endParaRPr lang="en-US"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552901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E1BC9-5775-8EC2-587B-767503E54D72}"/>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The Problem: Incomplete Product Data</a:t>
            </a:r>
          </a:p>
        </p:txBody>
      </p:sp>
      <p:sp>
        <p:nvSpPr>
          <p:cNvPr id="3" name="Content Placeholder 2">
            <a:extLst>
              <a:ext uri="{FF2B5EF4-FFF2-40B4-BE49-F238E27FC236}">
                <a16:creationId xmlns:a16="http://schemas.microsoft.com/office/drawing/2014/main" id="{B6EC5BF9-DF81-8F8B-603A-BD843B4B13BB}"/>
              </a:ext>
            </a:extLst>
          </p:cNvPr>
          <p:cNvSpPr>
            <a:spLocks noGrp="1"/>
          </p:cNvSpPr>
          <p:nvPr>
            <p:ph idx="1"/>
          </p:nvPr>
        </p:nvSpPr>
        <p:spPr/>
        <p:txBody>
          <a:bodyPr>
            <a:normAutofit/>
          </a:bodyPr>
          <a:lstStyle/>
          <a:p>
            <a:r>
              <a:rPr lang="en-US" b="1" dirty="0">
                <a:latin typeface="Calibri" panose="020F0502020204030204" pitchFamily="34" charset="0"/>
                <a:cs typeface="Calibri" panose="020F0502020204030204" pitchFamily="34" charset="0"/>
              </a:rPr>
              <a:t>Real-world product data are rarely complete.</a:t>
            </a:r>
          </a:p>
          <a:p>
            <a:r>
              <a:rPr lang="en-US" dirty="0">
                <a:solidFill>
                  <a:srgbClr val="1A1A1A"/>
                </a:solidFill>
                <a:latin typeface="Calibri" panose="020F0502020204030204" pitchFamily="34" charset="0"/>
                <a:ea typeface="Calibri" pitchFamily="34" charset="-122"/>
                <a:cs typeface="Calibri" panose="020F0502020204030204" pitchFamily="34" charset="0"/>
              </a:rPr>
              <a:t>Attributes like model numbers, storage speeds, and physical dimensions are missing for large fractions of records, sellers skip fields, scraping pipelines miss structured specs, different sources use different schemas.</a:t>
            </a:r>
            <a:endParaRPr lang="en-US" dirty="0">
              <a:latin typeface="Calibri" panose="020F0502020204030204" pitchFamily="34" charset="0"/>
              <a:cs typeface="Calibri" panose="020F0502020204030204" pitchFamily="34" charset="0"/>
            </a:endParaRPr>
          </a:p>
          <a:p>
            <a:pPr marL="0" indent="0">
              <a:buNone/>
            </a:pPr>
            <a:r>
              <a:rPr lang="en-US" dirty="0">
                <a:solidFill>
                  <a:srgbClr val="1A1A1A"/>
                </a:solidFill>
                <a:latin typeface="Calibri" panose="020F0502020204030204" pitchFamily="34" charset="0"/>
                <a:ea typeface="Calibri" pitchFamily="34" charset="-122"/>
                <a:cs typeface="Calibri" panose="020F0502020204030204" pitchFamily="34" charset="0"/>
              </a:rPr>
              <a:t> </a:t>
            </a:r>
            <a:endParaRPr lang="en-US" dirty="0">
              <a:latin typeface="Calibri" panose="020F0502020204030204" pitchFamily="34" charset="0"/>
              <a:cs typeface="Calibri" panose="020F0502020204030204" pitchFamily="34" charset="0"/>
            </a:endParaRPr>
          </a:p>
          <a:p>
            <a:r>
              <a:rPr lang="en-US" b="1" dirty="0">
                <a:solidFill>
                  <a:srgbClr val="1A1A1A"/>
                </a:solidFill>
                <a:latin typeface="Calibri" panose="020F0502020204030204" pitchFamily="34" charset="0"/>
                <a:ea typeface="Calibri" pitchFamily="34" charset="-122"/>
                <a:cs typeface="Calibri" panose="020F0502020204030204" pitchFamily="34" charset="0"/>
              </a:rPr>
              <a:t>Two approaches to fill them:</a:t>
            </a:r>
            <a:endParaRPr lang="en-US" dirty="0">
              <a:latin typeface="Calibri" panose="020F0502020204030204" pitchFamily="34" charset="0"/>
              <a:cs typeface="Calibri" panose="020F0502020204030204" pitchFamily="34" charset="0"/>
            </a:endParaRPr>
          </a:p>
          <a:p>
            <a:pPr marL="457200" lvl="1" indent="0">
              <a:buNone/>
            </a:pPr>
            <a:r>
              <a:rPr lang="en-US" dirty="0">
                <a:solidFill>
                  <a:srgbClr val="1A1A1A"/>
                </a:solidFill>
                <a:latin typeface="Calibri" panose="020F0502020204030204" pitchFamily="34" charset="0"/>
                <a:ea typeface="Calibri" pitchFamily="34" charset="-122"/>
                <a:cs typeface="Calibri" panose="020F0502020204030204" pitchFamily="34" charset="0"/>
              </a:rPr>
              <a:t>1. Ask the LLM from memory, works for general knowledge, fails for exact specs</a:t>
            </a:r>
            <a:endParaRPr lang="en-US" dirty="0">
              <a:latin typeface="Calibri" panose="020F0502020204030204" pitchFamily="34" charset="0"/>
              <a:cs typeface="Calibri" panose="020F0502020204030204" pitchFamily="34" charset="0"/>
            </a:endParaRPr>
          </a:p>
          <a:p>
            <a:pPr marL="457200" lvl="1" indent="0">
              <a:buNone/>
            </a:pPr>
            <a:r>
              <a:rPr lang="en-US" dirty="0">
                <a:solidFill>
                  <a:srgbClr val="1A1A1A"/>
                </a:solidFill>
                <a:latin typeface="Calibri" panose="020F0502020204030204" pitchFamily="34" charset="0"/>
                <a:ea typeface="Calibri" pitchFamily="34" charset="-122"/>
                <a:cs typeface="Calibri" panose="020F0502020204030204" pitchFamily="34" charset="0"/>
              </a:rPr>
              <a:t>2. Retrieve from a knowledge base, our approach</a:t>
            </a:r>
            <a:endParaRPr lang="en-US" dirty="0">
              <a:latin typeface="Calibri" panose="020F0502020204030204" pitchFamily="34" charset="0"/>
              <a:cs typeface="Calibri" panose="020F0502020204030204" pitchFamily="34" charset="0"/>
            </a:endParaRPr>
          </a:p>
        </p:txBody>
      </p:sp>
      <p:sp>
        <p:nvSpPr>
          <p:cNvPr id="4" name="Date Placeholder 3">
            <a:extLst>
              <a:ext uri="{FF2B5EF4-FFF2-40B4-BE49-F238E27FC236}">
                <a16:creationId xmlns:a16="http://schemas.microsoft.com/office/drawing/2014/main" id="{23D330BF-2073-8AD5-0860-85C492F4D18B}"/>
              </a:ext>
            </a:extLst>
          </p:cNvPr>
          <p:cNvSpPr>
            <a:spLocks noGrp="1"/>
          </p:cNvSpPr>
          <p:nvPr>
            <p:ph type="dt" sz="half" idx="10"/>
          </p:nvPr>
        </p:nvSpPr>
        <p:spPr/>
        <p:txBody>
          <a:bodyPr/>
          <a:lstStyle/>
          <a:p>
            <a:fld id="{ECA71EE4-6D53-5D46-A331-205830A60010}"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2247A470-E19F-5525-FE39-452104FA2194}"/>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425D3BFA-F1EE-5C00-DFD8-24C8F5B4B655}"/>
              </a:ext>
            </a:extLst>
          </p:cNvPr>
          <p:cNvSpPr>
            <a:spLocks noGrp="1"/>
          </p:cNvSpPr>
          <p:nvPr>
            <p:ph type="sldNum" sz="quarter" idx="12"/>
          </p:nvPr>
        </p:nvSpPr>
        <p:spPr/>
        <p:txBody>
          <a:bodyPr/>
          <a:lstStyle/>
          <a:p>
            <a:fld id="{14E2ADB4-C600-2649-8D1D-0066A158FD09}" type="slidenum">
              <a:rPr lang="en-US" smtClean="0">
                <a:latin typeface="Calibri" panose="020F0502020204030204" pitchFamily="34" charset="0"/>
                <a:cs typeface="Calibri" panose="020F0502020204030204" pitchFamily="34" charset="0"/>
              </a:rPr>
              <a:t>2</a:t>
            </a:fld>
            <a:endParaRPr lang="en-U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35790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F7457-9D7F-1387-4E13-52D4B1656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F5018F-A6E9-EAD2-4369-78A116B2DB80}"/>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The Problem: Incomplete Product Data</a:t>
            </a:r>
          </a:p>
        </p:txBody>
      </p:sp>
      <p:pic>
        <p:nvPicPr>
          <p:cNvPr id="8" name="Content Placeholder 7">
            <a:extLst>
              <a:ext uri="{FF2B5EF4-FFF2-40B4-BE49-F238E27FC236}">
                <a16:creationId xmlns:a16="http://schemas.microsoft.com/office/drawing/2014/main" id="{5F72E91B-742D-682A-63CF-F2FFF831273D}"/>
              </a:ext>
            </a:extLst>
          </p:cNvPr>
          <p:cNvPicPr>
            <a:picLocks noGrp="1" noChangeAspect="1"/>
          </p:cNvPicPr>
          <p:nvPr>
            <p:ph idx="1"/>
          </p:nvPr>
        </p:nvPicPr>
        <p:blipFill>
          <a:blip r:embed="rId3"/>
          <a:stretch>
            <a:fillRect/>
          </a:stretch>
        </p:blipFill>
        <p:spPr>
          <a:xfrm>
            <a:off x="838200" y="1828800"/>
            <a:ext cx="10515600" cy="1812785"/>
          </a:xfrm>
          <a:prstGeom prst="rect">
            <a:avLst/>
          </a:prstGeom>
        </p:spPr>
      </p:pic>
      <p:sp>
        <p:nvSpPr>
          <p:cNvPr id="4" name="Date Placeholder 3">
            <a:extLst>
              <a:ext uri="{FF2B5EF4-FFF2-40B4-BE49-F238E27FC236}">
                <a16:creationId xmlns:a16="http://schemas.microsoft.com/office/drawing/2014/main" id="{F8D0D648-E18E-2CCE-D9E0-626954609E57}"/>
              </a:ext>
            </a:extLst>
          </p:cNvPr>
          <p:cNvSpPr>
            <a:spLocks noGrp="1"/>
          </p:cNvSpPr>
          <p:nvPr>
            <p:ph type="dt" sz="half" idx="10"/>
          </p:nvPr>
        </p:nvSpPr>
        <p:spPr/>
        <p:txBody>
          <a:bodyPr/>
          <a:lstStyle/>
          <a:p>
            <a:fld id="{ECA71EE4-6D53-5D46-A331-205830A60010}"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2FCF6F66-1DDC-A375-398A-4F3A870BFCD7}"/>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AA8A42AD-94F6-9017-C7F0-4D6AC3A13A77}"/>
              </a:ext>
            </a:extLst>
          </p:cNvPr>
          <p:cNvSpPr>
            <a:spLocks noGrp="1"/>
          </p:cNvSpPr>
          <p:nvPr>
            <p:ph type="sldNum" sz="quarter" idx="12"/>
          </p:nvPr>
        </p:nvSpPr>
        <p:spPr/>
        <p:txBody>
          <a:bodyPr/>
          <a:lstStyle/>
          <a:p>
            <a:fld id="{14E2ADB4-C600-2649-8D1D-0066A158FD09}" type="slidenum">
              <a:rPr lang="en-US" smtClean="0">
                <a:latin typeface="Calibri" panose="020F0502020204030204" pitchFamily="34" charset="0"/>
                <a:cs typeface="Calibri" panose="020F0502020204030204" pitchFamily="34" charset="0"/>
              </a:rPr>
              <a:t>3</a:t>
            </a:fld>
            <a:endParaRPr lang="en-U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70846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833D2-0414-EF8E-3AE3-0922DFB6200D}"/>
              </a:ext>
            </a:extLst>
          </p:cNvPr>
          <p:cNvSpPr>
            <a:spLocks noGrp="1"/>
          </p:cNvSpPr>
          <p:nvPr>
            <p:ph type="title"/>
          </p:nvPr>
        </p:nvSpPr>
        <p:spPr/>
        <p:txBody>
          <a:bodyPr/>
          <a:lstStyle/>
          <a:p>
            <a:r>
              <a:rPr lang="en-US" dirty="0" err="1">
                <a:latin typeface="Calibri" panose="020F0502020204030204" pitchFamily="34" charset="0"/>
                <a:cs typeface="Calibri" panose="020F0502020204030204" pitchFamily="34" charset="0"/>
              </a:rPr>
              <a:t>RetClean</a:t>
            </a:r>
            <a:endParaRPr lang="en-US" dirty="0">
              <a:latin typeface="Calibri" panose="020F0502020204030204" pitchFamily="34" charset="0"/>
              <a:cs typeface="Calibri" panose="020F0502020204030204" pitchFamily="34" charset="0"/>
            </a:endParaRPr>
          </a:p>
        </p:txBody>
      </p:sp>
      <p:sp>
        <p:nvSpPr>
          <p:cNvPr id="3" name="Content Placeholder 2">
            <a:extLst>
              <a:ext uri="{FF2B5EF4-FFF2-40B4-BE49-F238E27FC236}">
                <a16:creationId xmlns:a16="http://schemas.microsoft.com/office/drawing/2014/main" id="{B1749699-9822-C1A7-AD4D-B1490E671434}"/>
              </a:ext>
            </a:extLst>
          </p:cNvPr>
          <p:cNvSpPr>
            <a:spLocks noGrp="1"/>
          </p:cNvSpPr>
          <p:nvPr>
            <p:ph idx="1"/>
          </p:nvPr>
        </p:nvSpPr>
        <p:spPr/>
        <p:txBody>
          <a:bodyPr/>
          <a:lstStyle/>
          <a:p>
            <a:r>
              <a:rPr lang="en-US" dirty="0">
                <a:solidFill>
                  <a:srgbClr val="1A1A1A"/>
                </a:solidFill>
                <a:latin typeface="Calibri" panose="020F0502020204030204" pitchFamily="34" charset="0"/>
                <a:ea typeface="Calibri" pitchFamily="34" charset="-122"/>
                <a:cs typeface="Calibri" panose="020F0502020204030204" pitchFamily="34" charset="0"/>
              </a:rPr>
              <a:t>LLMs alone struggle with data they have never seen but retrieval from a data lake fixes this.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p:txBody>
      </p:sp>
      <p:sp>
        <p:nvSpPr>
          <p:cNvPr id="4" name="Date Placeholder 3">
            <a:extLst>
              <a:ext uri="{FF2B5EF4-FFF2-40B4-BE49-F238E27FC236}">
                <a16:creationId xmlns:a16="http://schemas.microsoft.com/office/drawing/2014/main" id="{237CE540-98C7-723D-4E28-51C2DBA40C39}"/>
              </a:ext>
            </a:extLst>
          </p:cNvPr>
          <p:cNvSpPr>
            <a:spLocks noGrp="1"/>
          </p:cNvSpPr>
          <p:nvPr>
            <p:ph type="dt" sz="half" idx="10"/>
          </p:nvPr>
        </p:nvSpPr>
        <p:spPr/>
        <p:txBody>
          <a:bodyPr/>
          <a:lstStyle/>
          <a:p>
            <a:fld id="{ECA71EE4-6D53-5D46-A331-205830A60010}"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522930C6-9328-3ECA-6A81-9E5AC785C107}"/>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82ABB681-A79C-5A5E-7C9C-918AE68A9BC4}"/>
              </a:ext>
            </a:extLst>
          </p:cNvPr>
          <p:cNvSpPr>
            <a:spLocks noGrp="1"/>
          </p:cNvSpPr>
          <p:nvPr>
            <p:ph type="sldNum" sz="quarter" idx="12"/>
          </p:nvPr>
        </p:nvSpPr>
        <p:spPr/>
        <p:txBody>
          <a:bodyPr/>
          <a:lstStyle/>
          <a:p>
            <a:fld id="{14E2ADB4-C600-2649-8D1D-0066A158FD09}" type="slidenum">
              <a:rPr lang="en-US" smtClean="0">
                <a:latin typeface="Calibri" panose="020F0502020204030204" pitchFamily="34" charset="0"/>
                <a:cs typeface="Calibri" panose="020F0502020204030204" pitchFamily="34" charset="0"/>
              </a:rPr>
              <a:t>4</a:t>
            </a:fld>
            <a:endParaRPr lang="en-US">
              <a:latin typeface="Calibri" panose="020F0502020204030204" pitchFamily="34" charset="0"/>
              <a:cs typeface="Calibri" panose="020F0502020204030204" pitchFamily="34" charset="0"/>
            </a:endParaRPr>
          </a:p>
        </p:txBody>
      </p:sp>
      <p:grpSp>
        <p:nvGrpSpPr>
          <p:cNvPr id="25" name="Group 24">
            <a:extLst>
              <a:ext uri="{FF2B5EF4-FFF2-40B4-BE49-F238E27FC236}">
                <a16:creationId xmlns:a16="http://schemas.microsoft.com/office/drawing/2014/main" id="{BD42FB8D-2A2D-03E5-CAD5-07F28A2A7907}"/>
              </a:ext>
            </a:extLst>
          </p:cNvPr>
          <p:cNvGrpSpPr/>
          <p:nvPr/>
        </p:nvGrpSpPr>
        <p:grpSpPr>
          <a:xfrm>
            <a:off x="2209800" y="3429000"/>
            <a:ext cx="8458200" cy="1691640"/>
            <a:chOff x="365760" y="1234440"/>
            <a:chExt cx="8458200" cy="1691640"/>
          </a:xfrm>
        </p:grpSpPr>
        <p:sp>
          <p:nvSpPr>
            <p:cNvPr id="26" name="Shape 3">
              <a:extLst>
                <a:ext uri="{FF2B5EF4-FFF2-40B4-BE49-F238E27FC236}">
                  <a16:creationId xmlns:a16="http://schemas.microsoft.com/office/drawing/2014/main" id="{DE4073BA-6955-B86C-047D-7E0DDF62C6EA}"/>
                </a:ext>
              </a:extLst>
            </p:cNvPr>
            <p:cNvSpPr/>
            <p:nvPr/>
          </p:nvSpPr>
          <p:spPr>
            <a:xfrm>
              <a:off x="365760" y="1234440"/>
              <a:ext cx="2697480" cy="1691640"/>
            </a:xfrm>
            <a:prstGeom prst="rect">
              <a:avLst/>
            </a:prstGeom>
            <a:solidFill>
              <a:srgbClr val="F8FAFC"/>
            </a:solidFill>
            <a:ln w="12700">
              <a:solidFill>
                <a:srgbClr val="E2E8F0"/>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27" name="Shape 4">
              <a:extLst>
                <a:ext uri="{FF2B5EF4-FFF2-40B4-BE49-F238E27FC236}">
                  <a16:creationId xmlns:a16="http://schemas.microsoft.com/office/drawing/2014/main" id="{0D66500F-8D95-6150-737B-58224B9CD0E6}"/>
                </a:ext>
              </a:extLst>
            </p:cNvPr>
            <p:cNvSpPr/>
            <p:nvPr/>
          </p:nvSpPr>
          <p:spPr>
            <a:xfrm>
              <a:off x="365760" y="1234440"/>
              <a:ext cx="2697480" cy="54864"/>
            </a:xfrm>
            <a:prstGeom prst="rect">
              <a:avLst/>
            </a:prstGeom>
            <a:solidFill>
              <a:schemeClr val="accent2">
                <a:lumMod val="50000"/>
              </a:schemeClr>
            </a:solidFill>
            <a:ln w="12700">
              <a:solidFill>
                <a:srgbClr val="64748B"/>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28" name="Text 5">
              <a:extLst>
                <a:ext uri="{FF2B5EF4-FFF2-40B4-BE49-F238E27FC236}">
                  <a16:creationId xmlns:a16="http://schemas.microsoft.com/office/drawing/2014/main" id="{8B9A0EE2-B55C-EF63-CB75-827533E5AFC1}"/>
                </a:ext>
              </a:extLst>
            </p:cNvPr>
            <p:cNvSpPr/>
            <p:nvPr/>
          </p:nvSpPr>
          <p:spPr>
            <a:xfrm>
              <a:off x="457200" y="1325880"/>
              <a:ext cx="2514600" cy="274320"/>
            </a:xfrm>
            <a:prstGeom prst="rect">
              <a:avLst/>
            </a:prstGeom>
            <a:noFill/>
            <a:ln/>
          </p:spPr>
          <p:txBody>
            <a:bodyPr wrap="square" lIns="0" tIns="0" rIns="0" bIns="0" rtlCol="0" anchor="ctr"/>
            <a:lstStyle/>
            <a:p>
              <a:r>
                <a:rPr lang="en-US" sz="1100" b="1" dirty="0">
                  <a:solidFill>
                    <a:srgbClr val="64748B"/>
                  </a:solidFill>
                  <a:latin typeface="Calibri" panose="020F0502020204030204" pitchFamily="34" charset="0"/>
                  <a:ea typeface="Calibri" pitchFamily="34" charset="-122"/>
                  <a:cs typeface="Calibri" panose="020F0502020204030204" pitchFamily="34" charset="0"/>
                </a:rPr>
                <a:t>Scenario 1</a:t>
              </a:r>
              <a:endParaRPr lang="en-US" sz="1100" dirty="0">
                <a:solidFill>
                  <a:prstClr val="black"/>
                </a:solidFill>
                <a:latin typeface="Calibri" panose="020F0502020204030204" pitchFamily="34" charset="0"/>
                <a:cs typeface="Calibri" panose="020F0502020204030204" pitchFamily="34" charset="0"/>
              </a:endParaRPr>
            </a:p>
          </p:txBody>
        </p:sp>
        <p:sp>
          <p:nvSpPr>
            <p:cNvPr id="29" name="Text 6">
              <a:extLst>
                <a:ext uri="{FF2B5EF4-FFF2-40B4-BE49-F238E27FC236}">
                  <a16:creationId xmlns:a16="http://schemas.microsoft.com/office/drawing/2014/main" id="{25B0B9C7-D30F-D56E-358A-71745BDA39DF}"/>
                </a:ext>
              </a:extLst>
            </p:cNvPr>
            <p:cNvSpPr/>
            <p:nvPr/>
          </p:nvSpPr>
          <p:spPr>
            <a:xfrm>
              <a:off x="457200" y="1600200"/>
              <a:ext cx="2514600" cy="274320"/>
            </a:xfrm>
            <a:prstGeom prst="rect">
              <a:avLst/>
            </a:prstGeom>
            <a:noFill/>
            <a:ln/>
          </p:spPr>
          <p:txBody>
            <a:bodyPr wrap="square" lIns="0" tIns="0" rIns="0" bIns="0" rtlCol="0" anchor="ctr"/>
            <a:lstStyle/>
            <a:p>
              <a:r>
                <a:rPr lang="en-US" sz="1300" b="1" dirty="0">
                  <a:solidFill>
                    <a:srgbClr val="1E3A5F"/>
                  </a:solidFill>
                  <a:latin typeface="Calibri" panose="020F0502020204030204" pitchFamily="34" charset="0"/>
                  <a:ea typeface="Calibri" pitchFamily="34" charset="-122"/>
                  <a:cs typeface="Calibri" panose="020F0502020204030204" pitchFamily="34" charset="0"/>
                </a:rPr>
                <a:t>Cloud LLM only</a:t>
              </a:r>
              <a:endParaRPr lang="en-US" sz="1300" dirty="0">
                <a:solidFill>
                  <a:prstClr val="black"/>
                </a:solidFill>
                <a:latin typeface="Calibri" panose="020F0502020204030204" pitchFamily="34" charset="0"/>
                <a:cs typeface="Calibri" panose="020F0502020204030204" pitchFamily="34" charset="0"/>
              </a:endParaRPr>
            </a:p>
          </p:txBody>
        </p:sp>
        <p:sp>
          <p:nvSpPr>
            <p:cNvPr id="30" name="Text 7">
              <a:extLst>
                <a:ext uri="{FF2B5EF4-FFF2-40B4-BE49-F238E27FC236}">
                  <a16:creationId xmlns:a16="http://schemas.microsoft.com/office/drawing/2014/main" id="{8019C2AE-4659-807C-1490-3D62790DBF76}"/>
                </a:ext>
              </a:extLst>
            </p:cNvPr>
            <p:cNvSpPr/>
            <p:nvPr/>
          </p:nvSpPr>
          <p:spPr>
            <a:xfrm>
              <a:off x="457200" y="1920240"/>
              <a:ext cx="2514600" cy="822960"/>
            </a:xfrm>
            <a:prstGeom prst="rect">
              <a:avLst/>
            </a:prstGeom>
            <a:noFill/>
            <a:ln/>
          </p:spPr>
          <p:txBody>
            <a:bodyPr wrap="square" lIns="0" tIns="0" rIns="0" bIns="0" rtlCol="0" anchor="ctr"/>
            <a:lstStyle/>
            <a:p>
              <a:r>
                <a:rPr lang="en-US" sz="1100" dirty="0">
                  <a:solidFill>
                    <a:srgbClr val="64748B"/>
                  </a:solidFill>
                  <a:latin typeface="Calibri" panose="020F0502020204030204" pitchFamily="34" charset="0"/>
                  <a:ea typeface="Calibri" pitchFamily="34" charset="-122"/>
                  <a:cs typeface="Calibri" panose="020F0502020204030204" pitchFamily="34" charset="0"/>
                </a:rPr>
                <a:t>Works for world knowledge.</a:t>
              </a:r>
              <a:endParaRPr lang="en-US" sz="1100" dirty="0">
                <a:solidFill>
                  <a:prstClr val="black"/>
                </a:solidFill>
                <a:latin typeface="Calibri" panose="020F0502020204030204" pitchFamily="34" charset="0"/>
                <a:cs typeface="Calibri" panose="020F0502020204030204" pitchFamily="34" charset="0"/>
              </a:endParaRPr>
            </a:p>
            <a:p>
              <a:r>
                <a:rPr lang="en-US" sz="1100" dirty="0">
                  <a:solidFill>
                    <a:srgbClr val="64748B"/>
                  </a:solidFill>
                  <a:latin typeface="Calibri" panose="020F0502020204030204" pitchFamily="34" charset="0"/>
                  <a:ea typeface="Calibri" pitchFamily="34" charset="-122"/>
                  <a:cs typeface="Calibri" panose="020F0502020204030204" pitchFamily="34" charset="0"/>
                </a:rPr>
                <a:t>Fails for enterprise / domain data.</a:t>
              </a:r>
              <a:endParaRPr lang="en-US" sz="1100" dirty="0">
                <a:solidFill>
                  <a:prstClr val="black"/>
                </a:solidFill>
                <a:latin typeface="Calibri" panose="020F0502020204030204" pitchFamily="34" charset="0"/>
                <a:cs typeface="Calibri" panose="020F0502020204030204" pitchFamily="34" charset="0"/>
              </a:endParaRPr>
            </a:p>
          </p:txBody>
        </p:sp>
        <p:sp>
          <p:nvSpPr>
            <p:cNvPr id="31" name="Shape 8">
              <a:extLst>
                <a:ext uri="{FF2B5EF4-FFF2-40B4-BE49-F238E27FC236}">
                  <a16:creationId xmlns:a16="http://schemas.microsoft.com/office/drawing/2014/main" id="{9107EC34-7FE3-95CA-165A-C71ED75A00D2}"/>
                </a:ext>
              </a:extLst>
            </p:cNvPr>
            <p:cNvSpPr/>
            <p:nvPr/>
          </p:nvSpPr>
          <p:spPr>
            <a:xfrm>
              <a:off x="3246120" y="1234440"/>
              <a:ext cx="2697480" cy="1691640"/>
            </a:xfrm>
            <a:prstGeom prst="rect">
              <a:avLst/>
            </a:prstGeom>
            <a:solidFill>
              <a:srgbClr val="F8FAFC"/>
            </a:solidFill>
            <a:ln w="12700">
              <a:solidFill>
                <a:srgbClr val="E2E8F0"/>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32" name="Shape 9">
              <a:extLst>
                <a:ext uri="{FF2B5EF4-FFF2-40B4-BE49-F238E27FC236}">
                  <a16:creationId xmlns:a16="http://schemas.microsoft.com/office/drawing/2014/main" id="{FBF75DF7-29B2-5EBC-6400-4B869520383C}"/>
                </a:ext>
              </a:extLst>
            </p:cNvPr>
            <p:cNvSpPr/>
            <p:nvPr/>
          </p:nvSpPr>
          <p:spPr>
            <a:xfrm>
              <a:off x="3246120" y="1234440"/>
              <a:ext cx="2697480" cy="54864"/>
            </a:xfrm>
            <a:prstGeom prst="rect">
              <a:avLst/>
            </a:prstGeom>
            <a:solidFill>
              <a:srgbClr val="0891B2"/>
            </a:solidFill>
            <a:ln w="12700">
              <a:solidFill>
                <a:srgbClr val="0891B2"/>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33" name="Text 10">
              <a:extLst>
                <a:ext uri="{FF2B5EF4-FFF2-40B4-BE49-F238E27FC236}">
                  <a16:creationId xmlns:a16="http://schemas.microsoft.com/office/drawing/2014/main" id="{12013357-0724-AE05-98F8-F7FE2DB71A90}"/>
                </a:ext>
              </a:extLst>
            </p:cNvPr>
            <p:cNvSpPr/>
            <p:nvPr/>
          </p:nvSpPr>
          <p:spPr>
            <a:xfrm>
              <a:off x="3337560" y="1325880"/>
              <a:ext cx="2514600" cy="274320"/>
            </a:xfrm>
            <a:prstGeom prst="rect">
              <a:avLst/>
            </a:prstGeom>
            <a:noFill/>
            <a:ln/>
          </p:spPr>
          <p:txBody>
            <a:bodyPr wrap="square" lIns="0" tIns="0" rIns="0" bIns="0" rtlCol="0" anchor="ctr"/>
            <a:lstStyle/>
            <a:p>
              <a:r>
                <a:rPr lang="en-US" sz="1100" b="1" dirty="0">
                  <a:solidFill>
                    <a:srgbClr val="0891B2"/>
                  </a:solidFill>
                  <a:latin typeface="Calibri" panose="020F0502020204030204" pitchFamily="34" charset="0"/>
                  <a:ea typeface="Calibri" pitchFamily="34" charset="-122"/>
                  <a:cs typeface="Calibri" panose="020F0502020204030204" pitchFamily="34" charset="0"/>
                </a:rPr>
                <a:t>Scenario 2</a:t>
              </a:r>
              <a:endParaRPr lang="en-US" sz="1100" dirty="0">
                <a:solidFill>
                  <a:prstClr val="black"/>
                </a:solidFill>
                <a:latin typeface="Calibri" panose="020F0502020204030204" pitchFamily="34" charset="0"/>
                <a:cs typeface="Calibri" panose="020F0502020204030204" pitchFamily="34" charset="0"/>
              </a:endParaRPr>
            </a:p>
          </p:txBody>
        </p:sp>
        <p:sp>
          <p:nvSpPr>
            <p:cNvPr id="34" name="Text 11">
              <a:extLst>
                <a:ext uri="{FF2B5EF4-FFF2-40B4-BE49-F238E27FC236}">
                  <a16:creationId xmlns:a16="http://schemas.microsoft.com/office/drawing/2014/main" id="{42161358-05EA-7735-8FC5-68BADFD679C2}"/>
                </a:ext>
              </a:extLst>
            </p:cNvPr>
            <p:cNvSpPr/>
            <p:nvPr/>
          </p:nvSpPr>
          <p:spPr>
            <a:xfrm>
              <a:off x="3337560" y="1600200"/>
              <a:ext cx="2514600" cy="274320"/>
            </a:xfrm>
            <a:prstGeom prst="rect">
              <a:avLst/>
            </a:prstGeom>
            <a:noFill/>
            <a:ln/>
          </p:spPr>
          <p:txBody>
            <a:bodyPr wrap="square" lIns="0" tIns="0" rIns="0" bIns="0" rtlCol="0" anchor="ctr"/>
            <a:lstStyle/>
            <a:p>
              <a:r>
                <a:rPr lang="en-US" sz="1300" b="1" dirty="0">
                  <a:solidFill>
                    <a:srgbClr val="1E3A5F"/>
                  </a:solidFill>
                  <a:latin typeface="Calibri" panose="020F0502020204030204" pitchFamily="34" charset="0"/>
                  <a:ea typeface="Calibri" pitchFamily="34" charset="-122"/>
                  <a:cs typeface="Calibri" panose="020F0502020204030204" pitchFamily="34" charset="0"/>
                </a:rPr>
                <a:t>Cloud LLM + retrieval</a:t>
              </a:r>
              <a:endParaRPr lang="en-US" sz="1300" dirty="0">
                <a:solidFill>
                  <a:prstClr val="black"/>
                </a:solidFill>
                <a:latin typeface="Calibri" panose="020F0502020204030204" pitchFamily="34" charset="0"/>
                <a:cs typeface="Calibri" panose="020F0502020204030204" pitchFamily="34" charset="0"/>
              </a:endParaRPr>
            </a:p>
          </p:txBody>
        </p:sp>
        <p:sp>
          <p:nvSpPr>
            <p:cNvPr id="35" name="Text 12">
              <a:extLst>
                <a:ext uri="{FF2B5EF4-FFF2-40B4-BE49-F238E27FC236}">
                  <a16:creationId xmlns:a16="http://schemas.microsoft.com/office/drawing/2014/main" id="{C4BA00CF-FE5B-4772-4CD9-C70089F0389E}"/>
                </a:ext>
              </a:extLst>
            </p:cNvPr>
            <p:cNvSpPr/>
            <p:nvPr/>
          </p:nvSpPr>
          <p:spPr>
            <a:xfrm>
              <a:off x="3337560" y="1920240"/>
              <a:ext cx="2514600" cy="822960"/>
            </a:xfrm>
            <a:prstGeom prst="rect">
              <a:avLst/>
            </a:prstGeom>
            <a:noFill/>
            <a:ln/>
          </p:spPr>
          <p:txBody>
            <a:bodyPr wrap="square" lIns="0" tIns="0" rIns="0" bIns="0" rtlCol="0" anchor="ctr"/>
            <a:lstStyle/>
            <a:p>
              <a:r>
                <a:rPr lang="en-US" sz="1100" dirty="0">
                  <a:solidFill>
                    <a:srgbClr val="64748B"/>
                  </a:solidFill>
                  <a:latin typeface="Calibri" panose="020F0502020204030204" pitchFamily="34" charset="0"/>
                  <a:ea typeface="Calibri" pitchFamily="34" charset="-122"/>
                  <a:cs typeface="Calibri" panose="020F0502020204030204" pitchFamily="34" charset="0"/>
                </a:rPr>
                <a:t>Index data lake → retrieve top-n</a:t>
              </a:r>
              <a:endParaRPr lang="en-US" sz="1100" dirty="0">
                <a:solidFill>
                  <a:prstClr val="black"/>
                </a:solidFill>
                <a:latin typeface="Calibri" panose="020F0502020204030204" pitchFamily="34" charset="0"/>
                <a:cs typeface="Calibri" panose="020F0502020204030204" pitchFamily="34" charset="0"/>
              </a:endParaRPr>
            </a:p>
            <a:p>
              <a:r>
                <a:rPr lang="en-US" sz="1100" dirty="0">
                  <a:solidFill>
                    <a:srgbClr val="64748B"/>
                  </a:solidFill>
                  <a:latin typeface="Calibri" panose="020F0502020204030204" pitchFamily="34" charset="0"/>
                  <a:ea typeface="Calibri" pitchFamily="34" charset="-122"/>
                  <a:cs typeface="Calibri" panose="020F0502020204030204" pitchFamily="34" charset="0"/>
                </a:rPr>
                <a:t>→ re-rank → LLM extracts value.</a:t>
              </a:r>
              <a:endParaRPr lang="en-US" sz="1100" dirty="0">
                <a:solidFill>
                  <a:prstClr val="black"/>
                </a:solidFill>
                <a:latin typeface="Calibri" panose="020F0502020204030204" pitchFamily="34" charset="0"/>
                <a:cs typeface="Calibri" panose="020F0502020204030204" pitchFamily="34" charset="0"/>
              </a:endParaRPr>
            </a:p>
          </p:txBody>
        </p:sp>
        <p:sp>
          <p:nvSpPr>
            <p:cNvPr id="36" name="Shape 13">
              <a:extLst>
                <a:ext uri="{FF2B5EF4-FFF2-40B4-BE49-F238E27FC236}">
                  <a16:creationId xmlns:a16="http://schemas.microsoft.com/office/drawing/2014/main" id="{EA636E3E-FD70-43EF-1C7B-52FC72351C67}"/>
                </a:ext>
              </a:extLst>
            </p:cNvPr>
            <p:cNvSpPr/>
            <p:nvPr/>
          </p:nvSpPr>
          <p:spPr>
            <a:xfrm>
              <a:off x="6126480" y="1234440"/>
              <a:ext cx="2697480" cy="1691640"/>
            </a:xfrm>
            <a:prstGeom prst="rect">
              <a:avLst/>
            </a:prstGeom>
            <a:solidFill>
              <a:srgbClr val="F8FAFC"/>
            </a:solidFill>
            <a:ln w="12700">
              <a:solidFill>
                <a:srgbClr val="E2E8F0"/>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37" name="Shape 14">
              <a:extLst>
                <a:ext uri="{FF2B5EF4-FFF2-40B4-BE49-F238E27FC236}">
                  <a16:creationId xmlns:a16="http://schemas.microsoft.com/office/drawing/2014/main" id="{53CCEC96-E0A8-C930-41E5-8D22B7802E00}"/>
                </a:ext>
              </a:extLst>
            </p:cNvPr>
            <p:cNvSpPr/>
            <p:nvPr/>
          </p:nvSpPr>
          <p:spPr>
            <a:xfrm>
              <a:off x="6126480" y="1234440"/>
              <a:ext cx="2697480" cy="54864"/>
            </a:xfrm>
            <a:prstGeom prst="rect">
              <a:avLst/>
            </a:prstGeom>
            <a:solidFill>
              <a:srgbClr val="059669"/>
            </a:solidFill>
            <a:ln w="12700">
              <a:solidFill>
                <a:srgbClr val="059669"/>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38" name="Text 15">
              <a:extLst>
                <a:ext uri="{FF2B5EF4-FFF2-40B4-BE49-F238E27FC236}">
                  <a16:creationId xmlns:a16="http://schemas.microsoft.com/office/drawing/2014/main" id="{E0932FEE-6248-C018-2117-BDAA94059A7F}"/>
                </a:ext>
              </a:extLst>
            </p:cNvPr>
            <p:cNvSpPr/>
            <p:nvPr/>
          </p:nvSpPr>
          <p:spPr>
            <a:xfrm>
              <a:off x="6217920" y="1325880"/>
              <a:ext cx="2514600" cy="274320"/>
            </a:xfrm>
            <a:prstGeom prst="rect">
              <a:avLst/>
            </a:prstGeom>
            <a:noFill/>
            <a:ln/>
          </p:spPr>
          <p:txBody>
            <a:bodyPr wrap="square" lIns="0" tIns="0" rIns="0" bIns="0" rtlCol="0" anchor="ctr"/>
            <a:lstStyle/>
            <a:p>
              <a:r>
                <a:rPr lang="en-US" sz="1100" b="1" dirty="0">
                  <a:solidFill>
                    <a:srgbClr val="059669"/>
                  </a:solidFill>
                  <a:latin typeface="Calibri" panose="020F0502020204030204" pitchFamily="34" charset="0"/>
                  <a:ea typeface="Calibri" pitchFamily="34" charset="-122"/>
                  <a:cs typeface="Calibri" panose="020F0502020204030204" pitchFamily="34" charset="0"/>
                </a:rPr>
                <a:t>Scenario 3</a:t>
              </a:r>
              <a:endParaRPr lang="en-US" sz="1100" dirty="0">
                <a:solidFill>
                  <a:prstClr val="black"/>
                </a:solidFill>
                <a:latin typeface="Calibri" panose="020F0502020204030204" pitchFamily="34" charset="0"/>
                <a:cs typeface="Calibri" panose="020F0502020204030204" pitchFamily="34" charset="0"/>
              </a:endParaRPr>
            </a:p>
          </p:txBody>
        </p:sp>
        <p:sp>
          <p:nvSpPr>
            <p:cNvPr id="39" name="Text 16">
              <a:extLst>
                <a:ext uri="{FF2B5EF4-FFF2-40B4-BE49-F238E27FC236}">
                  <a16:creationId xmlns:a16="http://schemas.microsoft.com/office/drawing/2014/main" id="{FA6E0A1A-3595-E6CE-3F26-807A0EDDA724}"/>
                </a:ext>
              </a:extLst>
            </p:cNvPr>
            <p:cNvSpPr/>
            <p:nvPr/>
          </p:nvSpPr>
          <p:spPr>
            <a:xfrm>
              <a:off x="6217920" y="1600200"/>
              <a:ext cx="2514600" cy="274320"/>
            </a:xfrm>
            <a:prstGeom prst="rect">
              <a:avLst/>
            </a:prstGeom>
            <a:noFill/>
            <a:ln/>
          </p:spPr>
          <p:txBody>
            <a:bodyPr wrap="square" lIns="0" tIns="0" rIns="0" bIns="0" rtlCol="0" anchor="ctr"/>
            <a:lstStyle/>
            <a:p>
              <a:r>
                <a:rPr lang="en-US" sz="1300" b="1" dirty="0">
                  <a:solidFill>
                    <a:srgbClr val="1E3A5F"/>
                  </a:solidFill>
                  <a:latin typeface="Calibri" panose="020F0502020204030204" pitchFamily="34" charset="0"/>
                  <a:ea typeface="Calibri" pitchFamily="34" charset="-122"/>
                  <a:cs typeface="Calibri" panose="020F0502020204030204" pitchFamily="34" charset="0"/>
                </a:rPr>
                <a:t>Local LLM + retrieval</a:t>
              </a:r>
              <a:endParaRPr lang="en-US" sz="1300" dirty="0">
                <a:solidFill>
                  <a:prstClr val="black"/>
                </a:solidFill>
                <a:latin typeface="Calibri" panose="020F0502020204030204" pitchFamily="34" charset="0"/>
                <a:cs typeface="Calibri" panose="020F0502020204030204" pitchFamily="34" charset="0"/>
              </a:endParaRPr>
            </a:p>
          </p:txBody>
        </p:sp>
        <p:sp>
          <p:nvSpPr>
            <p:cNvPr id="40" name="Text 17">
              <a:extLst>
                <a:ext uri="{FF2B5EF4-FFF2-40B4-BE49-F238E27FC236}">
                  <a16:creationId xmlns:a16="http://schemas.microsoft.com/office/drawing/2014/main" id="{13BFCA9F-DEAB-F7CC-6A11-00D9E97412A9}"/>
                </a:ext>
              </a:extLst>
            </p:cNvPr>
            <p:cNvSpPr/>
            <p:nvPr/>
          </p:nvSpPr>
          <p:spPr>
            <a:xfrm>
              <a:off x="6217920" y="1920240"/>
              <a:ext cx="2514600" cy="822960"/>
            </a:xfrm>
            <a:prstGeom prst="rect">
              <a:avLst/>
            </a:prstGeom>
            <a:noFill/>
            <a:ln/>
          </p:spPr>
          <p:txBody>
            <a:bodyPr wrap="square" lIns="0" tIns="0" rIns="0" bIns="0" rtlCol="0" anchor="ctr"/>
            <a:lstStyle/>
            <a:p>
              <a:r>
                <a:rPr lang="en-US" sz="1100" dirty="0">
                  <a:solidFill>
                    <a:srgbClr val="64748B"/>
                  </a:solidFill>
                  <a:latin typeface="Calibri" panose="020F0502020204030204" pitchFamily="34" charset="0"/>
                  <a:ea typeface="Calibri" pitchFamily="34" charset="-122"/>
                  <a:cs typeface="Calibri" panose="020F0502020204030204" pitchFamily="34" charset="0"/>
                </a:rPr>
                <a:t>Same as Scenario 2 but privacy-</a:t>
              </a:r>
              <a:endParaRPr lang="en-US" sz="1100" dirty="0">
                <a:solidFill>
                  <a:prstClr val="black"/>
                </a:solidFill>
                <a:latin typeface="Calibri" panose="020F0502020204030204" pitchFamily="34" charset="0"/>
                <a:cs typeface="Calibri" panose="020F0502020204030204" pitchFamily="34" charset="0"/>
              </a:endParaRPr>
            </a:p>
            <a:p>
              <a:r>
                <a:rPr lang="en-US" sz="1100" dirty="0">
                  <a:solidFill>
                    <a:srgbClr val="64748B"/>
                  </a:solidFill>
                  <a:latin typeface="Calibri" panose="020F0502020204030204" pitchFamily="34" charset="0"/>
                  <a:ea typeface="Calibri" pitchFamily="34" charset="-122"/>
                  <a:cs typeface="Calibri" panose="020F0502020204030204" pitchFamily="34" charset="0"/>
                </a:rPr>
                <a:t>preserving — no data leaves org.</a:t>
              </a:r>
              <a:endParaRPr lang="en-US" sz="1100" dirty="0">
                <a:solidFill>
                  <a:prstClr val="black"/>
                </a:solidFill>
                <a:latin typeface="Calibri" panose="020F0502020204030204" pitchFamily="34" charset="0"/>
                <a:cs typeface="Calibri" panose="020F0502020204030204" pitchFamily="34" charset="0"/>
              </a:endParaRPr>
            </a:p>
          </p:txBody>
        </p:sp>
        <p:sp>
          <p:nvSpPr>
            <p:cNvPr id="41" name="Shape 18">
              <a:extLst>
                <a:ext uri="{FF2B5EF4-FFF2-40B4-BE49-F238E27FC236}">
                  <a16:creationId xmlns:a16="http://schemas.microsoft.com/office/drawing/2014/main" id="{F28AB6C6-250D-5F7B-0B6D-36B48A03D62D}"/>
                </a:ext>
              </a:extLst>
            </p:cNvPr>
            <p:cNvSpPr/>
            <p:nvPr/>
          </p:nvSpPr>
          <p:spPr>
            <a:xfrm>
              <a:off x="3063240" y="2057400"/>
              <a:ext cx="137160" cy="54864"/>
            </a:xfrm>
            <a:prstGeom prst="rect">
              <a:avLst/>
            </a:prstGeom>
            <a:solidFill>
              <a:srgbClr val="E2E8F0"/>
            </a:solidFill>
            <a:ln w="12700">
              <a:solidFill>
                <a:srgbClr val="E2E8F0"/>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sp>
          <p:nvSpPr>
            <p:cNvPr id="42" name="Shape 19">
              <a:extLst>
                <a:ext uri="{FF2B5EF4-FFF2-40B4-BE49-F238E27FC236}">
                  <a16:creationId xmlns:a16="http://schemas.microsoft.com/office/drawing/2014/main" id="{364AB2A6-5A8B-87FC-D228-180C67C8F8F0}"/>
                </a:ext>
              </a:extLst>
            </p:cNvPr>
            <p:cNvSpPr/>
            <p:nvPr/>
          </p:nvSpPr>
          <p:spPr>
            <a:xfrm>
              <a:off x="5943600" y="2057400"/>
              <a:ext cx="137160" cy="54864"/>
            </a:xfrm>
            <a:prstGeom prst="rect">
              <a:avLst/>
            </a:prstGeom>
            <a:solidFill>
              <a:srgbClr val="E2E8F0"/>
            </a:solidFill>
            <a:ln w="12700">
              <a:solidFill>
                <a:srgbClr val="E2E8F0"/>
              </a:solidFill>
              <a:prstDash val="solid"/>
            </a:ln>
          </p:spPr>
          <p:txBody>
            <a:bodyPr/>
            <a:lstStyle/>
            <a:p>
              <a:endParaRPr lang="en-US">
                <a:solidFill>
                  <a:prstClr val="black"/>
                </a:solidFill>
                <a:latin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354804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9ED0F-67DC-D24A-48A6-F9A1B7F686C8}"/>
              </a:ext>
            </a:extLst>
          </p:cNvPr>
          <p:cNvSpPr>
            <a:spLocks noGrp="1"/>
          </p:cNvSpPr>
          <p:nvPr>
            <p:ph type="title"/>
          </p:nvPr>
        </p:nvSpPr>
        <p:spPr/>
        <p:txBody>
          <a:bodyPr/>
          <a:lstStyle/>
          <a:p>
            <a:r>
              <a:rPr lang="en-US" dirty="0" err="1">
                <a:latin typeface="Calibri" panose="020F0502020204030204" pitchFamily="34" charset="0"/>
                <a:cs typeface="Calibri" panose="020F0502020204030204" pitchFamily="34" charset="0"/>
              </a:rPr>
              <a:t>RetClean</a:t>
            </a:r>
            <a:endParaRPr lang="en-US" dirty="0">
              <a:latin typeface="Calibri" panose="020F0502020204030204" pitchFamily="34" charset="0"/>
              <a:cs typeface="Calibri" panose="020F0502020204030204" pitchFamily="34" charset="0"/>
            </a:endParaRPr>
          </a:p>
        </p:txBody>
      </p:sp>
      <p:pic>
        <p:nvPicPr>
          <p:cNvPr id="8" name="Content Placeholder 7">
            <a:extLst>
              <a:ext uri="{FF2B5EF4-FFF2-40B4-BE49-F238E27FC236}">
                <a16:creationId xmlns:a16="http://schemas.microsoft.com/office/drawing/2014/main" id="{4336E4BA-4CA9-25B3-65E7-3473E4AA9D4B}"/>
              </a:ext>
            </a:extLst>
          </p:cNvPr>
          <p:cNvPicPr>
            <a:picLocks noGrp="1" noChangeAspect="1"/>
          </p:cNvPicPr>
          <p:nvPr>
            <p:ph idx="1"/>
          </p:nvPr>
        </p:nvPicPr>
        <p:blipFill>
          <a:blip r:embed="rId3"/>
          <a:srcRect l="2769" t="4961"/>
          <a:stretch>
            <a:fillRect/>
          </a:stretch>
        </p:blipFill>
        <p:spPr>
          <a:xfrm>
            <a:off x="1413499" y="1828800"/>
            <a:ext cx="9365002" cy="4135438"/>
          </a:xfrm>
          <a:prstGeom prst="rect">
            <a:avLst/>
          </a:prstGeom>
        </p:spPr>
      </p:pic>
      <p:sp>
        <p:nvSpPr>
          <p:cNvPr id="4" name="Date Placeholder 3">
            <a:extLst>
              <a:ext uri="{FF2B5EF4-FFF2-40B4-BE49-F238E27FC236}">
                <a16:creationId xmlns:a16="http://schemas.microsoft.com/office/drawing/2014/main" id="{489C0B8C-1B64-DAE1-5824-8A92AEA493F7}"/>
              </a:ext>
            </a:extLst>
          </p:cNvPr>
          <p:cNvSpPr>
            <a:spLocks noGrp="1"/>
          </p:cNvSpPr>
          <p:nvPr>
            <p:ph type="dt" sz="half" idx="10"/>
          </p:nvPr>
        </p:nvSpPr>
        <p:spPr/>
        <p:txBody>
          <a:bodyPr/>
          <a:lstStyle/>
          <a:p>
            <a:fld id="{ECA71EE4-6D53-5D46-A331-205830A60010}"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CFD3CDF2-9CD3-589E-BD4F-4CFF007FD92A}"/>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C1697F17-BE86-A12A-6706-1BEFBB5F20F8}"/>
              </a:ext>
            </a:extLst>
          </p:cNvPr>
          <p:cNvSpPr>
            <a:spLocks noGrp="1"/>
          </p:cNvSpPr>
          <p:nvPr>
            <p:ph type="sldNum" sz="quarter" idx="12"/>
          </p:nvPr>
        </p:nvSpPr>
        <p:spPr/>
        <p:txBody>
          <a:bodyPr/>
          <a:lstStyle/>
          <a:p>
            <a:fld id="{14E2ADB4-C600-2649-8D1D-0066A158FD09}" type="slidenum">
              <a:rPr lang="en-US" smtClean="0">
                <a:latin typeface="Calibri" panose="020F0502020204030204" pitchFamily="34" charset="0"/>
                <a:cs typeface="Calibri" panose="020F0502020204030204" pitchFamily="34" charset="0"/>
              </a:rPr>
              <a:t>5</a:t>
            </a:fld>
            <a:endParaRPr lang="en-U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50532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49642-EBA4-B6F4-2633-0CDB5CF2C0D4}"/>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Dataset and Attribute Selection</a:t>
            </a:r>
          </a:p>
        </p:txBody>
      </p:sp>
      <p:sp>
        <p:nvSpPr>
          <p:cNvPr id="4" name="Date Placeholder 3">
            <a:extLst>
              <a:ext uri="{FF2B5EF4-FFF2-40B4-BE49-F238E27FC236}">
                <a16:creationId xmlns:a16="http://schemas.microsoft.com/office/drawing/2014/main" id="{65A54EE7-E6FC-91C7-894F-6146A38DEE84}"/>
              </a:ext>
            </a:extLst>
          </p:cNvPr>
          <p:cNvSpPr>
            <a:spLocks noGrp="1"/>
          </p:cNvSpPr>
          <p:nvPr>
            <p:ph type="dt" sz="half" idx="10"/>
          </p:nvPr>
        </p:nvSpPr>
        <p:spPr/>
        <p:txBody>
          <a:bodyPr/>
          <a:lstStyle/>
          <a:p>
            <a:fld id="{ECA71EE4-6D53-5D46-A331-205830A60010}" type="datetime1">
              <a:rPr lang="en-US" smtClean="0">
                <a:latin typeface="Calibri" panose="020F0502020204030204" pitchFamily="34" charset="0"/>
                <a:cs typeface="Calibri" panose="020F0502020204030204" pitchFamily="34" charset="0"/>
              </a:rPr>
              <a:t>4/13/26</a:t>
            </a:fld>
            <a:endParaRPr lang="en-US">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BD4F5ACF-BA2E-AC52-EC4C-364F650C2A93}"/>
              </a:ext>
            </a:extLst>
          </p:cNvPr>
          <p:cNvSpPr>
            <a:spLocks noGrp="1"/>
          </p:cNvSpPr>
          <p:nvPr>
            <p:ph type="ftr" sz="quarter" idx="11"/>
          </p:nvPr>
        </p:nvSpPr>
        <p:spPr/>
        <p:txBody>
          <a:bodyPr/>
          <a:lstStyle/>
          <a:p>
            <a:r>
              <a:rPr lang="en-US" b="1">
                <a:latin typeface="Calibri" panose="020F0502020204030204" pitchFamily="34" charset="0"/>
                <a:cs typeface="Calibri" panose="020F0502020204030204" pitchFamily="34" charset="0"/>
              </a:rPr>
              <a:t>Seminar CS715: Solving Complex Tasks using LLMs</a:t>
            </a:r>
            <a:endParaRPr lang="en-US" b="1" dirty="0">
              <a:latin typeface="Calibri" panose="020F0502020204030204" pitchFamily="34" charset="0"/>
              <a:cs typeface="Calibri" panose="020F0502020204030204" pitchFamily="34" charset="0"/>
            </a:endParaRPr>
          </a:p>
        </p:txBody>
      </p:sp>
      <p:sp>
        <p:nvSpPr>
          <p:cNvPr id="6" name="Slide Number Placeholder 5">
            <a:extLst>
              <a:ext uri="{FF2B5EF4-FFF2-40B4-BE49-F238E27FC236}">
                <a16:creationId xmlns:a16="http://schemas.microsoft.com/office/drawing/2014/main" id="{C538F5C2-7DF0-ED83-0F21-1567CD31CAC2}"/>
              </a:ext>
            </a:extLst>
          </p:cNvPr>
          <p:cNvSpPr>
            <a:spLocks noGrp="1"/>
          </p:cNvSpPr>
          <p:nvPr>
            <p:ph type="sldNum" sz="quarter" idx="12"/>
          </p:nvPr>
        </p:nvSpPr>
        <p:spPr/>
        <p:txBody>
          <a:bodyPr/>
          <a:lstStyle/>
          <a:p>
            <a:fld id="{14E2ADB4-C600-2649-8D1D-0066A158FD09}" type="slidenum">
              <a:rPr lang="en-US" smtClean="0">
                <a:latin typeface="Calibri" panose="020F0502020204030204" pitchFamily="34" charset="0"/>
                <a:cs typeface="Calibri" panose="020F0502020204030204" pitchFamily="34" charset="0"/>
              </a:rPr>
              <a:t>6</a:t>
            </a:fld>
            <a:endParaRPr lang="en-US">
              <a:latin typeface="Calibri" panose="020F0502020204030204" pitchFamily="34" charset="0"/>
              <a:cs typeface="Calibri" panose="020F0502020204030204" pitchFamily="34" charset="0"/>
            </a:endParaRPr>
          </a:p>
        </p:txBody>
      </p:sp>
      <p:sp>
        <p:nvSpPr>
          <p:cNvPr id="7" name="Text 2">
            <a:extLst>
              <a:ext uri="{FF2B5EF4-FFF2-40B4-BE49-F238E27FC236}">
                <a16:creationId xmlns:a16="http://schemas.microsoft.com/office/drawing/2014/main" id="{8EB0697E-F655-577E-AA19-CBB835248465}"/>
              </a:ext>
            </a:extLst>
          </p:cNvPr>
          <p:cNvSpPr/>
          <p:nvPr/>
        </p:nvSpPr>
        <p:spPr>
          <a:xfrm>
            <a:off x="835660" y="1846072"/>
            <a:ext cx="8412480" cy="256032"/>
          </a:xfrm>
          <a:prstGeom prst="rect">
            <a:avLst/>
          </a:prstGeom>
          <a:noFill/>
          <a:ln/>
        </p:spPr>
        <p:txBody>
          <a:bodyPr wrap="square" rtlCol="0" anchor="ctr"/>
          <a:lstStyle/>
          <a:p>
            <a:pPr marL="0" indent="0">
              <a:buNone/>
            </a:pPr>
            <a:r>
              <a:rPr lang="en-US" sz="1100" i="1" dirty="0">
                <a:solidFill>
                  <a:srgbClr val="64748B"/>
                </a:solidFill>
                <a:latin typeface="Calibri" panose="020F0502020204030204" pitchFamily="34" charset="0"/>
                <a:ea typeface="Calibri" pitchFamily="34" charset="-122"/>
                <a:cs typeface="Calibri" panose="020F0502020204030204" pitchFamily="34" charset="0"/>
              </a:rPr>
              <a:t>Dataset 1 (query): 812 rows  ·  Datasets 2–4 (KB): 2,200 rows combined  ·  25 query rows  ·  51 evaluation tasks</a:t>
            </a:r>
            <a:endParaRPr lang="en-US" sz="1100" dirty="0">
              <a:latin typeface="Calibri" panose="020F0502020204030204" pitchFamily="34" charset="0"/>
              <a:cs typeface="Calibri" panose="020F0502020204030204" pitchFamily="34" charset="0"/>
            </a:endParaRPr>
          </a:p>
        </p:txBody>
      </p:sp>
      <p:graphicFrame>
        <p:nvGraphicFramePr>
          <p:cNvPr id="8" name="Table 0">
            <a:extLst>
              <a:ext uri="{FF2B5EF4-FFF2-40B4-BE49-F238E27FC236}">
                <a16:creationId xmlns:a16="http://schemas.microsoft.com/office/drawing/2014/main" id="{CC74C925-93CE-E23A-97B7-EA0C18AC45ED}"/>
              </a:ext>
            </a:extLst>
          </p:cNvPr>
          <p:cNvGraphicFramePr>
            <a:graphicFrameLocks noGrp="1"/>
          </p:cNvGraphicFramePr>
          <p:nvPr>
            <p:extLst>
              <p:ext uri="{D42A27DB-BD31-4B8C-83A1-F6EECF244321}">
                <p14:modId xmlns:p14="http://schemas.microsoft.com/office/powerpoint/2010/main" val="2214103435"/>
              </p:ext>
            </p:extLst>
          </p:nvPr>
        </p:nvGraphicFramePr>
        <p:xfrm>
          <a:off x="835660" y="2138680"/>
          <a:ext cx="2743200" cy="361188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451485">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bus_type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Text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Text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model_number</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Text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read_speed_mb_s</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Numeric</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write_speed_mb_s</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Numeric</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height_mm</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Numeric</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1485">
                <a:tc>
                  <a:txBody>
                    <a:bodyPr/>
                    <a:lstStyle/>
                    <a:p>
                      <a:pPr marL="0" indent="0">
                        <a:buNone/>
                      </a:pPr>
                      <a:r>
                        <a:rPr lang="en-US" sz="1200" dirty="0">
                          <a:solidFill>
                            <a:srgbClr val="1A1A1A"/>
                          </a:solidFill>
                          <a:latin typeface="Calibri" pitchFamily="34" charset="0"/>
                          <a:ea typeface="Calibri" pitchFamily="34" charset="-122"/>
                          <a:cs typeface="Calibri" pitchFamily="34" charset="-120"/>
                        </a:rPr>
                        <a:t>width_mm</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Numeric</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261485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F28A3-676D-7AF7-41C0-BCBC826E3C2F}"/>
              </a:ext>
            </a:extLst>
          </p:cNvPr>
          <p:cNvSpPr>
            <a:spLocks noGrp="1"/>
          </p:cNvSpPr>
          <p:nvPr>
            <p:ph type="title"/>
          </p:nvPr>
        </p:nvSpPr>
        <p:spPr/>
        <p:txBody>
          <a:bodyPr/>
          <a:lstStyle/>
          <a:p>
            <a:r>
              <a:rPr lang="en-US" dirty="0"/>
              <a:t>Experimental Configurations</a:t>
            </a:r>
          </a:p>
        </p:txBody>
      </p:sp>
      <p:sp>
        <p:nvSpPr>
          <p:cNvPr id="4" name="Date Placeholder 3">
            <a:extLst>
              <a:ext uri="{FF2B5EF4-FFF2-40B4-BE49-F238E27FC236}">
                <a16:creationId xmlns:a16="http://schemas.microsoft.com/office/drawing/2014/main" id="{E0F59E68-8012-3E27-4E25-57E33C2ED19E}"/>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3F1F0923-A71F-7CAB-8BBD-9A3542E85A9C}"/>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4264DF85-5D39-8E45-2C8D-4397EC4E2004}"/>
              </a:ext>
            </a:extLst>
          </p:cNvPr>
          <p:cNvSpPr>
            <a:spLocks noGrp="1"/>
          </p:cNvSpPr>
          <p:nvPr>
            <p:ph type="sldNum" sz="quarter" idx="12"/>
          </p:nvPr>
        </p:nvSpPr>
        <p:spPr/>
        <p:txBody>
          <a:bodyPr/>
          <a:lstStyle/>
          <a:p>
            <a:fld id="{14E2ADB4-C600-2649-8D1D-0066A158FD09}" type="slidenum">
              <a:rPr lang="en-US" smtClean="0"/>
              <a:t>7</a:t>
            </a:fld>
            <a:endParaRPr lang="en-US"/>
          </a:p>
        </p:txBody>
      </p:sp>
      <p:grpSp>
        <p:nvGrpSpPr>
          <p:cNvPr id="32" name="Group 31">
            <a:extLst>
              <a:ext uri="{FF2B5EF4-FFF2-40B4-BE49-F238E27FC236}">
                <a16:creationId xmlns:a16="http://schemas.microsoft.com/office/drawing/2014/main" id="{B911B66A-4DB1-1423-703B-FD7E05C2636E}"/>
              </a:ext>
            </a:extLst>
          </p:cNvPr>
          <p:cNvGrpSpPr/>
          <p:nvPr/>
        </p:nvGrpSpPr>
        <p:grpSpPr>
          <a:xfrm>
            <a:off x="838200" y="1828800"/>
            <a:ext cx="4206240" cy="3429000"/>
            <a:chOff x="838200" y="1828800"/>
            <a:chExt cx="4206240" cy="3429000"/>
          </a:xfrm>
        </p:grpSpPr>
        <p:grpSp>
          <p:nvGrpSpPr>
            <p:cNvPr id="3" name="Group 2">
              <a:extLst>
                <a:ext uri="{FF2B5EF4-FFF2-40B4-BE49-F238E27FC236}">
                  <a16:creationId xmlns:a16="http://schemas.microsoft.com/office/drawing/2014/main" id="{C34252E4-62C0-92D6-D4EE-124B05CED61F}"/>
                </a:ext>
              </a:extLst>
            </p:cNvPr>
            <p:cNvGrpSpPr/>
            <p:nvPr/>
          </p:nvGrpSpPr>
          <p:grpSpPr>
            <a:xfrm>
              <a:off x="838200" y="1828800"/>
              <a:ext cx="4206240" cy="1600200"/>
              <a:chOff x="838200" y="1828800"/>
              <a:chExt cx="4206240" cy="1600200"/>
            </a:xfrm>
          </p:grpSpPr>
          <p:sp>
            <p:nvSpPr>
              <p:cNvPr id="7" name="Shape 3">
                <a:extLst>
                  <a:ext uri="{FF2B5EF4-FFF2-40B4-BE49-F238E27FC236}">
                    <a16:creationId xmlns:a16="http://schemas.microsoft.com/office/drawing/2014/main" id="{EB9F47D3-469E-79B5-231C-CC8C071EED80}"/>
                  </a:ext>
                </a:extLst>
              </p:cNvPr>
              <p:cNvSpPr/>
              <p:nvPr/>
            </p:nvSpPr>
            <p:spPr>
              <a:xfrm>
                <a:off x="838200" y="1828800"/>
                <a:ext cx="4206240" cy="1600200"/>
              </a:xfrm>
              <a:prstGeom prst="rect">
                <a:avLst/>
              </a:prstGeom>
              <a:solidFill>
                <a:srgbClr val="F8FAFC"/>
              </a:solidFill>
              <a:ln w="12700">
                <a:solidFill>
                  <a:srgbClr val="E2E8F0"/>
                </a:solidFill>
                <a:prstDash val="solid"/>
              </a:ln>
            </p:spPr>
            <p:txBody>
              <a:bodyPr/>
              <a:lstStyle/>
              <a:p>
                <a:endParaRPr lang="en-US" dirty="0"/>
              </a:p>
            </p:txBody>
          </p:sp>
          <p:sp>
            <p:nvSpPr>
              <p:cNvPr id="8" name="Shape 4">
                <a:extLst>
                  <a:ext uri="{FF2B5EF4-FFF2-40B4-BE49-F238E27FC236}">
                    <a16:creationId xmlns:a16="http://schemas.microsoft.com/office/drawing/2014/main" id="{120E698D-DE0C-918D-664F-5C3E354E33E0}"/>
                  </a:ext>
                </a:extLst>
              </p:cNvPr>
              <p:cNvSpPr/>
              <p:nvPr/>
            </p:nvSpPr>
            <p:spPr>
              <a:xfrm>
                <a:off x="838200" y="1828800"/>
                <a:ext cx="4206240" cy="45720"/>
              </a:xfrm>
              <a:prstGeom prst="rect">
                <a:avLst/>
              </a:prstGeom>
              <a:solidFill>
                <a:srgbClr val="64748B"/>
              </a:solidFill>
              <a:ln w="12700">
                <a:solidFill>
                  <a:srgbClr val="64748B"/>
                </a:solidFill>
                <a:prstDash val="solid"/>
              </a:ln>
            </p:spPr>
            <p:txBody>
              <a:bodyPr/>
              <a:lstStyle/>
              <a:p>
                <a:endParaRPr lang="en-US"/>
              </a:p>
            </p:txBody>
          </p:sp>
          <p:sp>
            <p:nvSpPr>
              <p:cNvPr id="9" name="Text 5">
                <a:extLst>
                  <a:ext uri="{FF2B5EF4-FFF2-40B4-BE49-F238E27FC236}">
                    <a16:creationId xmlns:a16="http://schemas.microsoft.com/office/drawing/2014/main" id="{9C984360-0B71-A932-8720-AEEBB81AF490}"/>
                  </a:ext>
                </a:extLst>
              </p:cNvPr>
              <p:cNvSpPr/>
              <p:nvPr/>
            </p:nvSpPr>
            <p:spPr>
              <a:xfrm>
                <a:off x="947928" y="1920240"/>
                <a:ext cx="914400" cy="256032"/>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Exp 1</a:t>
                </a:r>
                <a:endParaRPr lang="en-US" sz="1100" dirty="0"/>
              </a:p>
            </p:txBody>
          </p:sp>
          <p:sp>
            <p:nvSpPr>
              <p:cNvPr id="10" name="Text 6">
                <a:extLst>
                  <a:ext uri="{FF2B5EF4-FFF2-40B4-BE49-F238E27FC236}">
                    <a16:creationId xmlns:a16="http://schemas.microsoft.com/office/drawing/2014/main" id="{989883D3-9E19-3F70-6DBB-B0CA2BEABBFC}"/>
                  </a:ext>
                </a:extLst>
              </p:cNvPr>
              <p:cNvSpPr/>
              <p:nvPr/>
            </p:nvSpPr>
            <p:spPr>
              <a:xfrm>
                <a:off x="947928" y="2212848"/>
                <a:ext cx="3931920" cy="292608"/>
              </a:xfrm>
              <a:prstGeom prst="rect">
                <a:avLst/>
              </a:prstGeom>
              <a:noFill/>
              <a:ln/>
            </p:spPr>
            <p:txBody>
              <a:bodyPr wrap="square" lIns="0" tIns="0" rIns="0" bIns="0"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LLM-only Baseline</a:t>
                </a:r>
                <a:endParaRPr lang="en-US" sz="1300" dirty="0"/>
              </a:p>
            </p:txBody>
          </p:sp>
          <p:sp>
            <p:nvSpPr>
              <p:cNvPr id="11" name="Text 7">
                <a:extLst>
                  <a:ext uri="{FF2B5EF4-FFF2-40B4-BE49-F238E27FC236}">
                    <a16:creationId xmlns:a16="http://schemas.microsoft.com/office/drawing/2014/main" id="{E4F75843-4026-7D95-6546-FC25E8ABBBE1}"/>
                  </a:ext>
                </a:extLst>
              </p:cNvPr>
              <p:cNvSpPr/>
              <p:nvPr/>
            </p:nvSpPr>
            <p:spPr>
              <a:xfrm>
                <a:off x="947928" y="2542032"/>
                <a:ext cx="3931920" cy="80467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Llama 3.1 8B predicts from product title + description. No KB access. Establishes the floor.</a:t>
                </a:r>
                <a:endParaRPr lang="en-US" sz="1100" dirty="0"/>
              </a:p>
            </p:txBody>
          </p:sp>
        </p:grpSp>
        <p:grpSp>
          <p:nvGrpSpPr>
            <p:cNvPr id="30" name="Group 29">
              <a:extLst>
                <a:ext uri="{FF2B5EF4-FFF2-40B4-BE49-F238E27FC236}">
                  <a16:creationId xmlns:a16="http://schemas.microsoft.com/office/drawing/2014/main" id="{B5A9CC1C-E45D-80BB-A446-2E1BE805B371}"/>
                </a:ext>
              </a:extLst>
            </p:cNvPr>
            <p:cNvGrpSpPr/>
            <p:nvPr/>
          </p:nvGrpSpPr>
          <p:grpSpPr>
            <a:xfrm>
              <a:off x="838200" y="3657600"/>
              <a:ext cx="4206240" cy="1600200"/>
              <a:chOff x="838200" y="3657600"/>
              <a:chExt cx="4206240" cy="1600200"/>
            </a:xfrm>
          </p:grpSpPr>
          <p:sp>
            <p:nvSpPr>
              <p:cNvPr id="17" name="Shape 13">
                <a:extLst>
                  <a:ext uri="{FF2B5EF4-FFF2-40B4-BE49-F238E27FC236}">
                    <a16:creationId xmlns:a16="http://schemas.microsoft.com/office/drawing/2014/main" id="{FADF9872-8E26-AE19-8335-E3461BC34367}"/>
                  </a:ext>
                </a:extLst>
              </p:cNvPr>
              <p:cNvSpPr/>
              <p:nvPr/>
            </p:nvSpPr>
            <p:spPr>
              <a:xfrm>
                <a:off x="838200" y="3657600"/>
                <a:ext cx="4206240" cy="1600200"/>
              </a:xfrm>
              <a:prstGeom prst="rect">
                <a:avLst/>
              </a:prstGeom>
              <a:solidFill>
                <a:srgbClr val="F8FAFC"/>
              </a:solidFill>
              <a:ln w="12700">
                <a:solidFill>
                  <a:srgbClr val="E2E8F0"/>
                </a:solidFill>
                <a:prstDash val="solid"/>
              </a:ln>
            </p:spPr>
            <p:txBody>
              <a:bodyPr/>
              <a:lstStyle/>
              <a:p>
                <a:endParaRPr lang="en-US"/>
              </a:p>
            </p:txBody>
          </p:sp>
          <p:sp>
            <p:nvSpPr>
              <p:cNvPr id="18" name="Shape 14">
                <a:extLst>
                  <a:ext uri="{FF2B5EF4-FFF2-40B4-BE49-F238E27FC236}">
                    <a16:creationId xmlns:a16="http://schemas.microsoft.com/office/drawing/2014/main" id="{05D84FBD-AFA3-E092-E6A6-7966E2556230}"/>
                  </a:ext>
                </a:extLst>
              </p:cNvPr>
              <p:cNvSpPr/>
              <p:nvPr/>
            </p:nvSpPr>
            <p:spPr>
              <a:xfrm>
                <a:off x="838200" y="3657600"/>
                <a:ext cx="4206240" cy="45720"/>
              </a:xfrm>
              <a:prstGeom prst="rect">
                <a:avLst/>
              </a:prstGeom>
              <a:solidFill>
                <a:srgbClr val="1E3A5F"/>
              </a:solidFill>
              <a:ln w="12700">
                <a:solidFill>
                  <a:srgbClr val="1E3A5F"/>
                </a:solidFill>
                <a:prstDash val="solid"/>
              </a:ln>
            </p:spPr>
            <p:txBody>
              <a:bodyPr/>
              <a:lstStyle/>
              <a:p>
                <a:endParaRPr lang="en-US"/>
              </a:p>
            </p:txBody>
          </p:sp>
          <p:sp>
            <p:nvSpPr>
              <p:cNvPr id="19" name="Text 15">
                <a:extLst>
                  <a:ext uri="{FF2B5EF4-FFF2-40B4-BE49-F238E27FC236}">
                    <a16:creationId xmlns:a16="http://schemas.microsoft.com/office/drawing/2014/main" id="{F4EB851D-CB8B-A3E4-CBF5-7DB098C4F632}"/>
                  </a:ext>
                </a:extLst>
              </p:cNvPr>
              <p:cNvSpPr/>
              <p:nvPr/>
            </p:nvSpPr>
            <p:spPr>
              <a:xfrm>
                <a:off x="947928" y="3749040"/>
                <a:ext cx="914400" cy="256032"/>
              </a:xfrm>
              <a:prstGeom prst="rect">
                <a:avLst/>
              </a:prstGeom>
              <a:noFill/>
              <a:ln/>
            </p:spPr>
            <p:txBody>
              <a:bodyPr wrap="square" lIns="0" tIns="0" rIns="0" bIns="0"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Exp 4a</a:t>
                </a:r>
                <a:endParaRPr lang="en-US" sz="1100" dirty="0"/>
              </a:p>
            </p:txBody>
          </p:sp>
          <p:sp>
            <p:nvSpPr>
              <p:cNvPr id="20" name="Text 16">
                <a:extLst>
                  <a:ext uri="{FF2B5EF4-FFF2-40B4-BE49-F238E27FC236}">
                    <a16:creationId xmlns:a16="http://schemas.microsoft.com/office/drawing/2014/main" id="{482EEFBB-93F0-836C-860C-68A9B798C63C}"/>
                  </a:ext>
                </a:extLst>
              </p:cNvPr>
              <p:cNvSpPr/>
              <p:nvPr/>
            </p:nvSpPr>
            <p:spPr>
              <a:xfrm>
                <a:off x="947928" y="4041648"/>
                <a:ext cx="3931920" cy="292608"/>
              </a:xfrm>
              <a:prstGeom prst="rect">
                <a:avLst/>
              </a:prstGeom>
              <a:noFill/>
              <a:ln/>
            </p:spPr>
            <p:txBody>
              <a:bodyPr wrap="square" lIns="0" tIns="0" rIns="0" bIns="0"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RAG + CrossEncoder Reranker</a:t>
                </a:r>
                <a:endParaRPr lang="en-US" sz="1300" dirty="0"/>
              </a:p>
            </p:txBody>
          </p:sp>
          <p:sp>
            <p:nvSpPr>
              <p:cNvPr id="21" name="Text 17">
                <a:extLst>
                  <a:ext uri="{FF2B5EF4-FFF2-40B4-BE49-F238E27FC236}">
                    <a16:creationId xmlns:a16="http://schemas.microsoft.com/office/drawing/2014/main" id="{AF4ECCF3-199F-48FC-902D-E7286157810B}"/>
                  </a:ext>
                </a:extLst>
              </p:cNvPr>
              <p:cNvSpPr/>
              <p:nvPr/>
            </p:nvSpPr>
            <p:spPr>
              <a:xfrm>
                <a:off x="947928" y="4370832"/>
                <a:ext cx="3931920" cy="80467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MiniLM retrieves top-20, CrossEncoder re-ranks to top-5. Inspired by RetClean's two-stage design.</a:t>
                </a:r>
                <a:endParaRPr lang="en-US" sz="1100" dirty="0"/>
              </a:p>
            </p:txBody>
          </p:sp>
        </p:grpSp>
      </p:grpSp>
      <p:grpSp>
        <p:nvGrpSpPr>
          <p:cNvPr id="33" name="Group 32">
            <a:extLst>
              <a:ext uri="{FF2B5EF4-FFF2-40B4-BE49-F238E27FC236}">
                <a16:creationId xmlns:a16="http://schemas.microsoft.com/office/drawing/2014/main" id="{D9F0B6C8-EE1F-B0B9-2A5F-D9F886E6EB39}"/>
              </a:ext>
            </a:extLst>
          </p:cNvPr>
          <p:cNvGrpSpPr/>
          <p:nvPr/>
        </p:nvGrpSpPr>
        <p:grpSpPr>
          <a:xfrm>
            <a:off x="6096000" y="1828800"/>
            <a:ext cx="4206240" cy="3429000"/>
            <a:chOff x="5273040" y="1828800"/>
            <a:chExt cx="4206240" cy="3429000"/>
          </a:xfrm>
        </p:grpSpPr>
        <p:grpSp>
          <p:nvGrpSpPr>
            <p:cNvPr id="29" name="Group 28">
              <a:extLst>
                <a:ext uri="{FF2B5EF4-FFF2-40B4-BE49-F238E27FC236}">
                  <a16:creationId xmlns:a16="http://schemas.microsoft.com/office/drawing/2014/main" id="{3ED7CE01-9ADB-711E-B193-A5D0DC5CE884}"/>
                </a:ext>
              </a:extLst>
            </p:cNvPr>
            <p:cNvGrpSpPr/>
            <p:nvPr/>
          </p:nvGrpSpPr>
          <p:grpSpPr>
            <a:xfrm>
              <a:off x="5273040" y="1828800"/>
              <a:ext cx="4206240" cy="1600200"/>
              <a:chOff x="5273040" y="1828800"/>
              <a:chExt cx="4206240" cy="1600200"/>
            </a:xfrm>
          </p:grpSpPr>
          <p:sp>
            <p:nvSpPr>
              <p:cNvPr id="12" name="Shape 8">
                <a:extLst>
                  <a:ext uri="{FF2B5EF4-FFF2-40B4-BE49-F238E27FC236}">
                    <a16:creationId xmlns:a16="http://schemas.microsoft.com/office/drawing/2014/main" id="{D4E79C97-27BA-8369-CACB-34890640CD51}"/>
                  </a:ext>
                </a:extLst>
              </p:cNvPr>
              <p:cNvSpPr/>
              <p:nvPr/>
            </p:nvSpPr>
            <p:spPr>
              <a:xfrm>
                <a:off x="5273040" y="1828800"/>
                <a:ext cx="4206240" cy="1600200"/>
              </a:xfrm>
              <a:prstGeom prst="rect">
                <a:avLst/>
              </a:prstGeom>
              <a:solidFill>
                <a:srgbClr val="F8FAFC"/>
              </a:solidFill>
              <a:ln w="12700">
                <a:solidFill>
                  <a:srgbClr val="E2E8F0"/>
                </a:solidFill>
                <a:prstDash val="solid"/>
              </a:ln>
            </p:spPr>
            <p:txBody>
              <a:bodyPr/>
              <a:lstStyle/>
              <a:p>
                <a:endParaRPr lang="en-US"/>
              </a:p>
            </p:txBody>
          </p:sp>
          <p:sp>
            <p:nvSpPr>
              <p:cNvPr id="13" name="Shape 9">
                <a:extLst>
                  <a:ext uri="{FF2B5EF4-FFF2-40B4-BE49-F238E27FC236}">
                    <a16:creationId xmlns:a16="http://schemas.microsoft.com/office/drawing/2014/main" id="{4D59B050-7AC7-757A-18DE-D5AD3DC5C6BB}"/>
                  </a:ext>
                </a:extLst>
              </p:cNvPr>
              <p:cNvSpPr/>
              <p:nvPr/>
            </p:nvSpPr>
            <p:spPr>
              <a:xfrm>
                <a:off x="5273040" y="1828800"/>
                <a:ext cx="4206240" cy="45720"/>
              </a:xfrm>
              <a:prstGeom prst="rect">
                <a:avLst/>
              </a:prstGeom>
              <a:solidFill>
                <a:srgbClr val="0891B2"/>
              </a:solidFill>
              <a:ln w="12700">
                <a:solidFill>
                  <a:srgbClr val="0891B2"/>
                </a:solidFill>
                <a:prstDash val="solid"/>
              </a:ln>
            </p:spPr>
            <p:txBody>
              <a:bodyPr/>
              <a:lstStyle/>
              <a:p>
                <a:endParaRPr lang="en-US"/>
              </a:p>
            </p:txBody>
          </p:sp>
          <p:sp>
            <p:nvSpPr>
              <p:cNvPr id="14" name="Text 10">
                <a:extLst>
                  <a:ext uri="{FF2B5EF4-FFF2-40B4-BE49-F238E27FC236}">
                    <a16:creationId xmlns:a16="http://schemas.microsoft.com/office/drawing/2014/main" id="{8BA1CD7F-B405-7827-56F8-E3E2C8414E71}"/>
                  </a:ext>
                </a:extLst>
              </p:cNvPr>
              <p:cNvSpPr/>
              <p:nvPr/>
            </p:nvSpPr>
            <p:spPr>
              <a:xfrm>
                <a:off x="5382768" y="1920240"/>
                <a:ext cx="914400" cy="256032"/>
              </a:xfrm>
              <a:prstGeom prst="rect">
                <a:avLst/>
              </a:prstGeom>
              <a:noFill/>
              <a:ln/>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Exp 2</a:t>
                </a:r>
                <a:endParaRPr lang="en-US" sz="1100" dirty="0"/>
              </a:p>
            </p:txBody>
          </p:sp>
          <p:sp>
            <p:nvSpPr>
              <p:cNvPr id="15" name="Text 11">
                <a:extLst>
                  <a:ext uri="{FF2B5EF4-FFF2-40B4-BE49-F238E27FC236}">
                    <a16:creationId xmlns:a16="http://schemas.microsoft.com/office/drawing/2014/main" id="{9855F668-B1FD-1D61-5E98-DCC761702733}"/>
                  </a:ext>
                </a:extLst>
              </p:cNvPr>
              <p:cNvSpPr/>
              <p:nvPr/>
            </p:nvSpPr>
            <p:spPr>
              <a:xfrm>
                <a:off x="5382768" y="2212848"/>
                <a:ext cx="3931920" cy="292608"/>
              </a:xfrm>
              <a:prstGeom prst="rect">
                <a:avLst/>
              </a:prstGeom>
              <a:noFill/>
              <a:ln/>
            </p:spPr>
            <p:txBody>
              <a:bodyPr wrap="square" lIns="0" tIns="0" rIns="0" bIns="0"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RAG</a:t>
                </a:r>
                <a:endParaRPr lang="en-US" sz="1300" dirty="0"/>
              </a:p>
            </p:txBody>
          </p:sp>
          <p:sp>
            <p:nvSpPr>
              <p:cNvPr id="16" name="Text 12">
                <a:extLst>
                  <a:ext uri="{FF2B5EF4-FFF2-40B4-BE49-F238E27FC236}">
                    <a16:creationId xmlns:a16="http://schemas.microsoft.com/office/drawing/2014/main" id="{5289FBA1-5F5D-CFFC-511E-1AAAAB945861}"/>
                  </a:ext>
                </a:extLst>
              </p:cNvPr>
              <p:cNvSpPr/>
              <p:nvPr/>
            </p:nvSpPr>
            <p:spPr>
              <a:xfrm>
                <a:off x="5382768" y="2542032"/>
                <a:ext cx="3931920" cy="80467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MiniLM top-3 retrieval from 2,200-row KB. LLM extracts value from retrieved candidates.</a:t>
                </a:r>
                <a:endParaRPr lang="en-US" sz="1100" dirty="0"/>
              </a:p>
            </p:txBody>
          </p:sp>
        </p:grpSp>
        <p:grpSp>
          <p:nvGrpSpPr>
            <p:cNvPr id="31" name="Group 30">
              <a:extLst>
                <a:ext uri="{FF2B5EF4-FFF2-40B4-BE49-F238E27FC236}">
                  <a16:creationId xmlns:a16="http://schemas.microsoft.com/office/drawing/2014/main" id="{B7401DF9-7F44-08FB-7744-3DEC6F63DCCD}"/>
                </a:ext>
              </a:extLst>
            </p:cNvPr>
            <p:cNvGrpSpPr/>
            <p:nvPr/>
          </p:nvGrpSpPr>
          <p:grpSpPr>
            <a:xfrm>
              <a:off x="5273040" y="3657600"/>
              <a:ext cx="4206240" cy="1600200"/>
              <a:chOff x="5273040" y="3657600"/>
              <a:chExt cx="4206240" cy="1600200"/>
            </a:xfrm>
          </p:grpSpPr>
          <p:sp>
            <p:nvSpPr>
              <p:cNvPr id="22" name="Shape 18">
                <a:extLst>
                  <a:ext uri="{FF2B5EF4-FFF2-40B4-BE49-F238E27FC236}">
                    <a16:creationId xmlns:a16="http://schemas.microsoft.com/office/drawing/2014/main" id="{22642226-0FAD-D603-37A2-6E5B0C5A2DFB}"/>
                  </a:ext>
                </a:extLst>
              </p:cNvPr>
              <p:cNvSpPr/>
              <p:nvPr/>
            </p:nvSpPr>
            <p:spPr>
              <a:xfrm>
                <a:off x="5273040" y="3657600"/>
                <a:ext cx="4206240" cy="1600200"/>
              </a:xfrm>
              <a:prstGeom prst="rect">
                <a:avLst/>
              </a:prstGeom>
              <a:solidFill>
                <a:srgbClr val="F8FAFC"/>
              </a:solidFill>
              <a:ln w="12700">
                <a:solidFill>
                  <a:srgbClr val="E2E8F0"/>
                </a:solidFill>
                <a:prstDash val="solid"/>
              </a:ln>
            </p:spPr>
            <p:txBody>
              <a:bodyPr/>
              <a:lstStyle/>
              <a:p>
                <a:endParaRPr lang="en-US"/>
              </a:p>
            </p:txBody>
          </p:sp>
          <p:sp>
            <p:nvSpPr>
              <p:cNvPr id="23" name="Shape 19">
                <a:extLst>
                  <a:ext uri="{FF2B5EF4-FFF2-40B4-BE49-F238E27FC236}">
                    <a16:creationId xmlns:a16="http://schemas.microsoft.com/office/drawing/2014/main" id="{4D8EB3E4-1FFF-0095-58FE-A905203EE616}"/>
                  </a:ext>
                </a:extLst>
              </p:cNvPr>
              <p:cNvSpPr/>
              <p:nvPr/>
            </p:nvSpPr>
            <p:spPr>
              <a:xfrm>
                <a:off x="5273040" y="3657600"/>
                <a:ext cx="4206240" cy="45720"/>
              </a:xfrm>
              <a:prstGeom prst="rect">
                <a:avLst/>
              </a:prstGeom>
              <a:solidFill>
                <a:srgbClr val="059669"/>
              </a:solidFill>
              <a:ln w="12700">
                <a:solidFill>
                  <a:srgbClr val="059669"/>
                </a:solidFill>
                <a:prstDash val="solid"/>
              </a:ln>
            </p:spPr>
            <p:txBody>
              <a:bodyPr/>
              <a:lstStyle/>
              <a:p>
                <a:endParaRPr lang="en-US"/>
              </a:p>
            </p:txBody>
          </p:sp>
          <p:sp>
            <p:nvSpPr>
              <p:cNvPr id="24" name="Text 20">
                <a:extLst>
                  <a:ext uri="{FF2B5EF4-FFF2-40B4-BE49-F238E27FC236}">
                    <a16:creationId xmlns:a16="http://schemas.microsoft.com/office/drawing/2014/main" id="{534248BA-A357-F432-87A0-6536BEC21279}"/>
                  </a:ext>
                </a:extLst>
              </p:cNvPr>
              <p:cNvSpPr/>
              <p:nvPr/>
            </p:nvSpPr>
            <p:spPr>
              <a:xfrm>
                <a:off x="5382768" y="3749040"/>
                <a:ext cx="914400" cy="256032"/>
              </a:xfrm>
              <a:prstGeom prst="rect">
                <a:avLst/>
              </a:prstGeom>
              <a:noFill/>
              <a:ln/>
            </p:spPr>
            <p:txBody>
              <a:bodyPr wrap="square" lIns="0" tIns="0" rIns="0" bIns="0"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Exp 5</a:t>
                </a:r>
                <a:endParaRPr lang="en-US" sz="1100" dirty="0"/>
              </a:p>
            </p:txBody>
          </p:sp>
          <p:sp>
            <p:nvSpPr>
              <p:cNvPr id="25" name="Text 21">
                <a:extLst>
                  <a:ext uri="{FF2B5EF4-FFF2-40B4-BE49-F238E27FC236}">
                    <a16:creationId xmlns:a16="http://schemas.microsoft.com/office/drawing/2014/main" id="{696E4CF2-DD37-07A8-B7D0-D0DF1F63DBC6}"/>
                  </a:ext>
                </a:extLst>
              </p:cNvPr>
              <p:cNvSpPr/>
              <p:nvPr/>
            </p:nvSpPr>
            <p:spPr>
              <a:xfrm>
                <a:off x="5382768" y="4041648"/>
                <a:ext cx="3931920" cy="292608"/>
              </a:xfrm>
              <a:prstGeom prst="rect">
                <a:avLst/>
              </a:prstGeom>
              <a:noFill/>
              <a:ln/>
            </p:spPr>
            <p:txBody>
              <a:bodyPr wrap="square" lIns="0" tIns="0" rIns="0" bIns="0"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BGE-large + CrossEncoder</a:t>
                </a:r>
                <a:endParaRPr lang="en-US" sz="1300" dirty="0"/>
              </a:p>
            </p:txBody>
          </p:sp>
          <p:sp>
            <p:nvSpPr>
              <p:cNvPr id="26" name="Text 22">
                <a:extLst>
                  <a:ext uri="{FF2B5EF4-FFF2-40B4-BE49-F238E27FC236}">
                    <a16:creationId xmlns:a16="http://schemas.microsoft.com/office/drawing/2014/main" id="{D0D5B819-AA15-273F-9E13-2D5393C5A94D}"/>
                  </a:ext>
                </a:extLst>
              </p:cNvPr>
              <p:cNvSpPr/>
              <p:nvPr/>
            </p:nvSpPr>
            <p:spPr>
              <a:xfrm>
                <a:off x="5382768" y="4370832"/>
                <a:ext cx="3931920" cy="804672"/>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Replaces MiniLM with BGE-large-en-v1.5. Adds description field. Improved response parser.</a:t>
                </a:r>
                <a:endParaRPr lang="en-US" sz="1100" dirty="0"/>
              </a:p>
            </p:txBody>
          </p:sp>
        </p:grpSp>
      </p:grpSp>
    </p:spTree>
    <p:extLst>
      <p:ext uri="{BB962C8B-B14F-4D97-AF65-F5344CB8AC3E}">
        <p14:creationId xmlns:p14="http://schemas.microsoft.com/office/powerpoint/2010/main" val="3914186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70BA5-A767-6B91-F40F-A88970D3FDF6}"/>
              </a:ext>
            </a:extLst>
          </p:cNvPr>
          <p:cNvSpPr>
            <a:spLocks noGrp="1"/>
          </p:cNvSpPr>
          <p:nvPr>
            <p:ph type="title"/>
          </p:nvPr>
        </p:nvSpPr>
        <p:spPr/>
        <p:txBody>
          <a:bodyPr/>
          <a:lstStyle/>
          <a:p>
            <a:r>
              <a:rPr lang="en-US" dirty="0"/>
              <a:t>System Architecture (BGE + </a:t>
            </a:r>
            <a:r>
              <a:rPr lang="en-US" dirty="0" err="1"/>
              <a:t>Reranker</a:t>
            </a:r>
            <a:r>
              <a:rPr lang="en-US" dirty="0"/>
              <a:t>)</a:t>
            </a:r>
          </a:p>
        </p:txBody>
      </p:sp>
      <p:sp>
        <p:nvSpPr>
          <p:cNvPr id="4" name="Date Placeholder 3">
            <a:extLst>
              <a:ext uri="{FF2B5EF4-FFF2-40B4-BE49-F238E27FC236}">
                <a16:creationId xmlns:a16="http://schemas.microsoft.com/office/drawing/2014/main" id="{F78032DA-2C84-BE56-3732-14C6416EA7CA}"/>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F959D412-06FB-1746-26EC-42618CF4529B}"/>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988E0673-5F3A-F912-436E-2CA095321673}"/>
              </a:ext>
            </a:extLst>
          </p:cNvPr>
          <p:cNvSpPr>
            <a:spLocks noGrp="1"/>
          </p:cNvSpPr>
          <p:nvPr>
            <p:ph type="sldNum" sz="quarter" idx="12"/>
          </p:nvPr>
        </p:nvSpPr>
        <p:spPr/>
        <p:txBody>
          <a:bodyPr/>
          <a:lstStyle/>
          <a:p>
            <a:fld id="{14E2ADB4-C600-2649-8D1D-0066A158FD09}" type="slidenum">
              <a:rPr lang="en-US" smtClean="0"/>
              <a:t>8</a:t>
            </a:fld>
            <a:endParaRPr lang="en-US"/>
          </a:p>
        </p:txBody>
      </p:sp>
      <p:grpSp>
        <p:nvGrpSpPr>
          <p:cNvPr id="96" name="Group 95">
            <a:extLst>
              <a:ext uri="{FF2B5EF4-FFF2-40B4-BE49-F238E27FC236}">
                <a16:creationId xmlns:a16="http://schemas.microsoft.com/office/drawing/2014/main" id="{9C041E9E-A1E9-4A52-A143-CC59798D7407}"/>
              </a:ext>
            </a:extLst>
          </p:cNvPr>
          <p:cNvGrpSpPr/>
          <p:nvPr/>
        </p:nvGrpSpPr>
        <p:grpSpPr>
          <a:xfrm>
            <a:off x="1798320" y="2062639"/>
            <a:ext cx="7589520" cy="3200400"/>
            <a:chOff x="274320" y="1005840"/>
            <a:chExt cx="7589520" cy="3200400"/>
          </a:xfrm>
        </p:grpSpPr>
        <p:sp>
          <p:nvSpPr>
            <p:cNvPr id="67" name="Shape 2">
              <a:extLst>
                <a:ext uri="{FF2B5EF4-FFF2-40B4-BE49-F238E27FC236}">
                  <a16:creationId xmlns:a16="http://schemas.microsoft.com/office/drawing/2014/main" id="{CE3B8A9F-5143-7773-71A0-B61E555D8BA3}"/>
                </a:ext>
              </a:extLst>
            </p:cNvPr>
            <p:cNvSpPr/>
            <p:nvPr/>
          </p:nvSpPr>
          <p:spPr>
            <a:xfrm>
              <a:off x="274320" y="1005840"/>
              <a:ext cx="1371600" cy="868680"/>
            </a:xfrm>
            <a:prstGeom prst="rect">
              <a:avLst/>
            </a:prstGeom>
            <a:solidFill>
              <a:srgbClr val="1E3A5F"/>
            </a:solidFill>
            <a:ln w="12700">
              <a:solidFill>
                <a:srgbClr val="1E3A5F"/>
              </a:solidFill>
              <a:prstDash val="solid"/>
            </a:ln>
          </p:spPr>
          <p:txBody>
            <a:bodyPr/>
            <a:lstStyle/>
            <a:p>
              <a:endParaRPr lang="en-US"/>
            </a:p>
          </p:txBody>
        </p:sp>
        <p:sp>
          <p:nvSpPr>
            <p:cNvPr id="68" name="Text 3">
              <a:extLst>
                <a:ext uri="{FF2B5EF4-FFF2-40B4-BE49-F238E27FC236}">
                  <a16:creationId xmlns:a16="http://schemas.microsoft.com/office/drawing/2014/main" id="{0F40A447-6893-A2FF-D62B-F7918F2A3113}"/>
                </a:ext>
              </a:extLst>
            </p:cNvPr>
            <p:cNvSpPr/>
            <p:nvPr/>
          </p:nvSpPr>
          <p:spPr>
            <a:xfrm>
              <a:off x="274320" y="1005840"/>
              <a:ext cx="1371600" cy="86868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Query</a:t>
              </a:r>
              <a:endParaRPr lang="en-US" sz="1100" dirty="0">
                <a:solidFill>
                  <a:schemeClr val="bg1"/>
                </a:solidFill>
              </a:endParaRPr>
            </a:p>
            <a:p>
              <a:pPr marL="0" indent="0" algn="ctr">
                <a:buNone/>
              </a:pPr>
              <a:r>
                <a:rPr lang="en-US" sz="1100" b="1" dirty="0">
                  <a:solidFill>
                    <a:schemeClr val="bg1"/>
                  </a:solidFill>
                  <a:latin typeface="Calibri" pitchFamily="34" charset="0"/>
                  <a:ea typeface="Calibri" pitchFamily="34" charset="-122"/>
                  <a:cs typeface="Calibri" pitchFamily="34" charset="-120"/>
                </a:rPr>
                <a:t>Product</a:t>
              </a:r>
              <a:endParaRPr lang="en-US" sz="1100" dirty="0">
                <a:solidFill>
                  <a:schemeClr val="bg1"/>
                </a:solidFill>
              </a:endParaRPr>
            </a:p>
          </p:txBody>
        </p:sp>
        <p:sp>
          <p:nvSpPr>
            <p:cNvPr id="69" name="Text 4">
              <a:extLst>
                <a:ext uri="{FF2B5EF4-FFF2-40B4-BE49-F238E27FC236}">
                  <a16:creationId xmlns:a16="http://schemas.microsoft.com/office/drawing/2014/main" id="{53EBFD6F-5430-5BA5-97AC-2CB1EF0B91EC}"/>
                </a:ext>
              </a:extLst>
            </p:cNvPr>
            <p:cNvSpPr/>
            <p:nvPr/>
          </p:nvSpPr>
          <p:spPr>
            <a:xfrm>
              <a:off x="1645920" y="1005840"/>
              <a:ext cx="182880" cy="86868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70" name="Shape 5">
              <a:extLst>
                <a:ext uri="{FF2B5EF4-FFF2-40B4-BE49-F238E27FC236}">
                  <a16:creationId xmlns:a16="http://schemas.microsoft.com/office/drawing/2014/main" id="{0CDC0BE4-3318-5671-19CD-D8CFF3A4CE64}"/>
                </a:ext>
              </a:extLst>
            </p:cNvPr>
            <p:cNvSpPr/>
            <p:nvPr/>
          </p:nvSpPr>
          <p:spPr>
            <a:xfrm>
              <a:off x="1828800" y="1005840"/>
              <a:ext cx="1371600" cy="868680"/>
            </a:xfrm>
            <a:prstGeom prst="rect">
              <a:avLst/>
            </a:prstGeom>
            <a:solidFill>
              <a:srgbClr val="0891B2"/>
            </a:solidFill>
            <a:ln w="12700">
              <a:solidFill>
                <a:srgbClr val="0891B2"/>
              </a:solidFill>
              <a:prstDash val="solid"/>
            </a:ln>
          </p:spPr>
          <p:txBody>
            <a:bodyPr/>
            <a:lstStyle/>
            <a:p>
              <a:endParaRPr lang="en-US"/>
            </a:p>
          </p:txBody>
        </p:sp>
        <p:sp>
          <p:nvSpPr>
            <p:cNvPr id="71" name="Text 6">
              <a:extLst>
                <a:ext uri="{FF2B5EF4-FFF2-40B4-BE49-F238E27FC236}">
                  <a16:creationId xmlns:a16="http://schemas.microsoft.com/office/drawing/2014/main" id="{C07D7202-8F0D-8980-2103-D4C8FA3451EF}"/>
                </a:ext>
              </a:extLst>
            </p:cNvPr>
            <p:cNvSpPr/>
            <p:nvPr/>
          </p:nvSpPr>
          <p:spPr>
            <a:xfrm>
              <a:off x="1828800" y="1005840"/>
              <a:ext cx="1371600" cy="86868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BGE-large</a:t>
              </a:r>
              <a:endParaRPr lang="en-US" sz="1100" dirty="0">
                <a:solidFill>
                  <a:schemeClr val="bg1"/>
                </a:solidFill>
              </a:endParaRPr>
            </a:p>
            <a:p>
              <a:pPr marL="0" indent="0" algn="ctr">
                <a:buNone/>
              </a:pPr>
              <a:r>
                <a:rPr lang="en-US" sz="1100" b="1" dirty="0">
                  <a:solidFill>
                    <a:schemeClr val="bg1"/>
                  </a:solidFill>
                  <a:latin typeface="Calibri" pitchFamily="34" charset="0"/>
                  <a:ea typeface="Calibri" pitchFamily="34" charset="-122"/>
                  <a:cs typeface="Calibri" pitchFamily="34" charset="-120"/>
                </a:rPr>
                <a:t>Embed</a:t>
              </a:r>
              <a:endParaRPr lang="en-US" sz="1100" dirty="0">
                <a:solidFill>
                  <a:schemeClr val="bg1"/>
                </a:solidFill>
              </a:endParaRPr>
            </a:p>
          </p:txBody>
        </p:sp>
        <p:sp>
          <p:nvSpPr>
            <p:cNvPr id="72" name="Text 7">
              <a:extLst>
                <a:ext uri="{FF2B5EF4-FFF2-40B4-BE49-F238E27FC236}">
                  <a16:creationId xmlns:a16="http://schemas.microsoft.com/office/drawing/2014/main" id="{4D4CBB46-FC15-D349-D619-C58098A20544}"/>
                </a:ext>
              </a:extLst>
            </p:cNvPr>
            <p:cNvSpPr/>
            <p:nvPr/>
          </p:nvSpPr>
          <p:spPr>
            <a:xfrm>
              <a:off x="3200400" y="1005840"/>
              <a:ext cx="182880" cy="86868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73" name="Shape 8">
              <a:extLst>
                <a:ext uri="{FF2B5EF4-FFF2-40B4-BE49-F238E27FC236}">
                  <a16:creationId xmlns:a16="http://schemas.microsoft.com/office/drawing/2014/main" id="{1FEAD15E-EBB5-A1F6-6E76-D37D75CF6623}"/>
                </a:ext>
              </a:extLst>
            </p:cNvPr>
            <p:cNvSpPr/>
            <p:nvPr/>
          </p:nvSpPr>
          <p:spPr>
            <a:xfrm>
              <a:off x="3383280" y="1005840"/>
              <a:ext cx="1371600" cy="868680"/>
            </a:xfrm>
            <a:prstGeom prst="rect">
              <a:avLst/>
            </a:prstGeom>
            <a:solidFill>
              <a:srgbClr val="64748B"/>
            </a:solidFill>
            <a:ln w="12700">
              <a:solidFill>
                <a:srgbClr val="64748B"/>
              </a:solidFill>
              <a:prstDash val="solid"/>
            </a:ln>
          </p:spPr>
          <p:txBody>
            <a:bodyPr/>
            <a:lstStyle/>
            <a:p>
              <a:endParaRPr lang="en-US"/>
            </a:p>
          </p:txBody>
        </p:sp>
        <p:sp>
          <p:nvSpPr>
            <p:cNvPr id="74" name="Text 9">
              <a:extLst>
                <a:ext uri="{FF2B5EF4-FFF2-40B4-BE49-F238E27FC236}">
                  <a16:creationId xmlns:a16="http://schemas.microsoft.com/office/drawing/2014/main" id="{8C936C47-63FC-19A5-4F8E-7EC136C7D95D}"/>
                </a:ext>
              </a:extLst>
            </p:cNvPr>
            <p:cNvSpPr/>
            <p:nvPr/>
          </p:nvSpPr>
          <p:spPr>
            <a:xfrm>
              <a:off x="3383280" y="1005840"/>
              <a:ext cx="1371600" cy="86868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Top-20</a:t>
              </a:r>
              <a:endParaRPr lang="en-US" sz="1100" dirty="0">
                <a:solidFill>
                  <a:schemeClr val="bg1"/>
                </a:solidFill>
              </a:endParaRPr>
            </a:p>
            <a:p>
              <a:pPr marL="0" indent="0" algn="ctr">
                <a:buNone/>
              </a:pPr>
              <a:r>
                <a:rPr lang="en-US" sz="1100" b="1" dirty="0">
                  <a:solidFill>
                    <a:schemeClr val="bg1"/>
                  </a:solidFill>
                  <a:latin typeface="Calibri" pitchFamily="34" charset="0"/>
                  <a:ea typeface="Calibri" pitchFamily="34" charset="-122"/>
                  <a:cs typeface="Calibri" pitchFamily="34" charset="-120"/>
                </a:rPr>
                <a:t>Candidates</a:t>
              </a:r>
              <a:endParaRPr lang="en-US" sz="1100" dirty="0">
                <a:solidFill>
                  <a:schemeClr val="bg1"/>
                </a:solidFill>
              </a:endParaRPr>
            </a:p>
          </p:txBody>
        </p:sp>
        <p:sp>
          <p:nvSpPr>
            <p:cNvPr id="75" name="Text 10">
              <a:extLst>
                <a:ext uri="{FF2B5EF4-FFF2-40B4-BE49-F238E27FC236}">
                  <a16:creationId xmlns:a16="http://schemas.microsoft.com/office/drawing/2014/main" id="{19FF05E7-976E-E391-F53F-A111AEEE146B}"/>
                </a:ext>
              </a:extLst>
            </p:cNvPr>
            <p:cNvSpPr/>
            <p:nvPr/>
          </p:nvSpPr>
          <p:spPr>
            <a:xfrm>
              <a:off x="4754880" y="1005840"/>
              <a:ext cx="182880" cy="86868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76" name="Shape 11">
              <a:extLst>
                <a:ext uri="{FF2B5EF4-FFF2-40B4-BE49-F238E27FC236}">
                  <a16:creationId xmlns:a16="http://schemas.microsoft.com/office/drawing/2014/main" id="{4BBE2E7C-1155-4059-03EF-2E7225C12177}"/>
                </a:ext>
              </a:extLst>
            </p:cNvPr>
            <p:cNvSpPr/>
            <p:nvPr/>
          </p:nvSpPr>
          <p:spPr>
            <a:xfrm>
              <a:off x="4937760" y="1005840"/>
              <a:ext cx="1371600" cy="868680"/>
            </a:xfrm>
            <a:prstGeom prst="rect">
              <a:avLst/>
            </a:prstGeom>
            <a:solidFill>
              <a:srgbClr val="0891B2"/>
            </a:solidFill>
            <a:ln w="12700">
              <a:solidFill>
                <a:srgbClr val="0891B2"/>
              </a:solidFill>
              <a:prstDash val="solid"/>
            </a:ln>
          </p:spPr>
          <p:txBody>
            <a:bodyPr/>
            <a:lstStyle/>
            <a:p>
              <a:endParaRPr lang="en-US"/>
            </a:p>
          </p:txBody>
        </p:sp>
        <p:sp>
          <p:nvSpPr>
            <p:cNvPr id="77" name="Text 12">
              <a:extLst>
                <a:ext uri="{FF2B5EF4-FFF2-40B4-BE49-F238E27FC236}">
                  <a16:creationId xmlns:a16="http://schemas.microsoft.com/office/drawing/2014/main" id="{C47A7C6C-2FA8-7706-2895-02BA0DDC10BC}"/>
                </a:ext>
              </a:extLst>
            </p:cNvPr>
            <p:cNvSpPr/>
            <p:nvPr/>
          </p:nvSpPr>
          <p:spPr>
            <a:xfrm>
              <a:off x="4937760" y="1005840"/>
              <a:ext cx="1371600" cy="86868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CrossEncoder</a:t>
              </a:r>
              <a:endParaRPr lang="en-US" sz="1100" dirty="0">
                <a:solidFill>
                  <a:schemeClr val="bg1"/>
                </a:solidFill>
              </a:endParaRPr>
            </a:p>
            <a:p>
              <a:pPr marL="0" indent="0" algn="ctr">
                <a:buNone/>
              </a:pPr>
              <a:r>
                <a:rPr lang="en-US" sz="1100" b="1" dirty="0">
                  <a:solidFill>
                    <a:schemeClr val="bg1"/>
                  </a:solidFill>
                  <a:latin typeface="Calibri" pitchFamily="34" charset="0"/>
                  <a:ea typeface="Calibri" pitchFamily="34" charset="-122"/>
                  <a:cs typeface="Calibri" pitchFamily="34" charset="-120"/>
                </a:rPr>
                <a:t>Re-rank</a:t>
              </a:r>
              <a:endParaRPr lang="en-US" sz="1100" dirty="0">
                <a:solidFill>
                  <a:schemeClr val="bg1"/>
                </a:solidFill>
              </a:endParaRPr>
            </a:p>
          </p:txBody>
        </p:sp>
        <p:sp>
          <p:nvSpPr>
            <p:cNvPr id="78" name="Text 13">
              <a:extLst>
                <a:ext uri="{FF2B5EF4-FFF2-40B4-BE49-F238E27FC236}">
                  <a16:creationId xmlns:a16="http://schemas.microsoft.com/office/drawing/2014/main" id="{1F6ABF25-CEC6-C9A3-9C06-AF9411679CFF}"/>
                </a:ext>
              </a:extLst>
            </p:cNvPr>
            <p:cNvSpPr/>
            <p:nvPr/>
          </p:nvSpPr>
          <p:spPr>
            <a:xfrm>
              <a:off x="6309360" y="1005840"/>
              <a:ext cx="182880" cy="86868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79" name="Shape 14">
              <a:extLst>
                <a:ext uri="{FF2B5EF4-FFF2-40B4-BE49-F238E27FC236}">
                  <a16:creationId xmlns:a16="http://schemas.microsoft.com/office/drawing/2014/main" id="{D17FDB10-05B3-E769-90F4-9CEE24475D01}"/>
                </a:ext>
              </a:extLst>
            </p:cNvPr>
            <p:cNvSpPr/>
            <p:nvPr/>
          </p:nvSpPr>
          <p:spPr>
            <a:xfrm>
              <a:off x="6492240" y="1005840"/>
              <a:ext cx="1371600" cy="868680"/>
            </a:xfrm>
            <a:prstGeom prst="rect">
              <a:avLst/>
            </a:prstGeom>
            <a:solidFill>
              <a:srgbClr val="64748B"/>
            </a:solidFill>
            <a:ln w="12700">
              <a:solidFill>
                <a:srgbClr val="64748B"/>
              </a:solidFill>
              <a:prstDash val="solid"/>
            </a:ln>
          </p:spPr>
          <p:txBody>
            <a:bodyPr/>
            <a:lstStyle/>
            <a:p>
              <a:endParaRPr lang="en-US"/>
            </a:p>
          </p:txBody>
        </p:sp>
        <p:sp>
          <p:nvSpPr>
            <p:cNvPr id="80" name="Text 15">
              <a:extLst>
                <a:ext uri="{FF2B5EF4-FFF2-40B4-BE49-F238E27FC236}">
                  <a16:creationId xmlns:a16="http://schemas.microsoft.com/office/drawing/2014/main" id="{733E3BBC-6C51-7A9E-B60E-A038B632F99B}"/>
                </a:ext>
              </a:extLst>
            </p:cNvPr>
            <p:cNvSpPr/>
            <p:nvPr/>
          </p:nvSpPr>
          <p:spPr>
            <a:xfrm>
              <a:off x="6492240" y="1005840"/>
              <a:ext cx="1371600" cy="86868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Top-5</a:t>
              </a:r>
              <a:endParaRPr lang="en-US" sz="1100" dirty="0">
                <a:solidFill>
                  <a:schemeClr val="bg1"/>
                </a:solidFill>
              </a:endParaRPr>
            </a:p>
            <a:p>
              <a:pPr marL="0" indent="0" algn="ctr">
                <a:buNone/>
              </a:pPr>
              <a:r>
                <a:rPr lang="en-US" sz="1100" b="1" dirty="0">
                  <a:solidFill>
                    <a:schemeClr val="bg1"/>
                  </a:solidFill>
                  <a:latin typeface="Calibri" pitchFamily="34" charset="0"/>
                  <a:ea typeface="Calibri" pitchFamily="34" charset="-122"/>
                  <a:cs typeface="Calibri" pitchFamily="34" charset="-120"/>
                </a:rPr>
                <a:t>Candidates</a:t>
              </a:r>
              <a:endParaRPr lang="en-US" sz="1100" dirty="0">
                <a:solidFill>
                  <a:schemeClr val="bg1"/>
                </a:solidFill>
              </a:endParaRPr>
            </a:p>
          </p:txBody>
        </p:sp>
        <p:sp>
          <p:nvSpPr>
            <p:cNvPr id="81" name="Shape 16">
              <a:extLst>
                <a:ext uri="{FF2B5EF4-FFF2-40B4-BE49-F238E27FC236}">
                  <a16:creationId xmlns:a16="http://schemas.microsoft.com/office/drawing/2014/main" id="{B9E80A26-2C8F-AD22-7412-09B8A8C8CD78}"/>
                </a:ext>
              </a:extLst>
            </p:cNvPr>
            <p:cNvSpPr/>
            <p:nvPr/>
          </p:nvSpPr>
          <p:spPr>
            <a:xfrm>
              <a:off x="1783080" y="2011680"/>
              <a:ext cx="1463040" cy="685800"/>
            </a:xfrm>
            <a:prstGeom prst="rect">
              <a:avLst/>
            </a:prstGeom>
            <a:solidFill>
              <a:srgbClr val="EFF6FF"/>
            </a:solidFill>
            <a:ln w="12700">
              <a:solidFill>
                <a:srgbClr val="1E3A5F"/>
              </a:solidFill>
              <a:prstDash val="solid"/>
            </a:ln>
          </p:spPr>
          <p:txBody>
            <a:bodyPr/>
            <a:lstStyle/>
            <a:p>
              <a:endParaRPr lang="en-US"/>
            </a:p>
          </p:txBody>
        </p:sp>
        <p:sp>
          <p:nvSpPr>
            <p:cNvPr id="82" name="Text 17">
              <a:extLst>
                <a:ext uri="{FF2B5EF4-FFF2-40B4-BE49-F238E27FC236}">
                  <a16:creationId xmlns:a16="http://schemas.microsoft.com/office/drawing/2014/main" id="{A0790B67-E8AB-4CB9-34AC-42344F05EFEF}"/>
                </a:ext>
              </a:extLst>
            </p:cNvPr>
            <p:cNvSpPr/>
            <p:nvPr/>
          </p:nvSpPr>
          <p:spPr>
            <a:xfrm>
              <a:off x="1783080" y="2011680"/>
              <a:ext cx="1463040" cy="685800"/>
            </a:xfrm>
            <a:prstGeom prst="rect">
              <a:avLst/>
            </a:prstGeom>
            <a:noFill/>
            <a:ln/>
          </p:spPr>
          <p:txBody>
            <a:bodyPr wrap="square" lIns="0" tIns="0" rIns="0" bIns="0"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Knowledge Base</a:t>
              </a:r>
              <a:endParaRPr lang="en-US" sz="1000" dirty="0"/>
            </a:p>
            <a:p>
              <a:pPr marL="0" indent="0" algn="ctr">
                <a:buNone/>
              </a:pPr>
              <a:r>
                <a:rPr lang="en-US" sz="1000" b="1" dirty="0">
                  <a:solidFill>
                    <a:srgbClr val="1E3A5F"/>
                  </a:solidFill>
                  <a:latin typeface="Calibri" pitchFamily="34" charset="0"/>
                  <a:ea typeface="Calibri" pitchFamily="34" charset="-122"/>
                  <a:cs typeface="Calibri" pitchFamily="34" charset="-120"/>
                </a:rPr>
                <a:t>2,200 rows</a:t>
              </a:r>
              <a:endParaRPr lang="en-US" sz="1000" dirty="0"/>
            </a:p>
          </p:txBody>
        </p:sp>
        <p:sp>
          <p:nvSpPr>
            <p:cNvPr id="83" name="Text 18">
              <a:extLst>
                <a:ext uri="{FF2B5EF4-FFF2-40B4-BE49-F238E27FC236}">
                  <a16:creationId xmlns:a16="http://schemas.microsoft.com/office/drawing/2014/main" id="{6194FC42-751B-FFC7-8C37-39584430FACB}"/>
                </a:ext>
              </a:extLst>
            </p:cNvPr>
            <p:cNvSpPr/>
            <p:nvPr/>
          </p:nvSpPr>
          <p:spPr>
            <a:xfrm>
              <a:off x="2423160" y="1828800"/>
              <a:ext cx="182880" cy="22860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84" name="Text 19">
              <a:extLst>
                <a:ext uri="{FF2B5EF4-FFF2-40B4-BE49-F238E27FC236}">
                  <a16:creationId xmlns:a16="http://schemas.microsoft.com/office/drawing/2014/main" id="{9A9CED67-D384-C179-3B8E-AAF2F85128BC}"/>
                </a:ext>
              </a:extLst>
            </p:cNvPr>
            <p:cNvSpPr/>
            <p:nvPr/>
          </p:nvSpPr>
          <p:spPr>
            <a:xfrm>
              <a:off x="7086600" y="1828800"/>
              <a:ext cx="182880" cy="22860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85" name="Shape 20">
              <a:extLst>
                <a:ext uri="{FF2B5EF4-FFF2-40B4-BE49-F238E27FC236}">
                  <a16:creationId xmlns:a16="http://schemas.microsoft.com/office/drawing/2014/main" id="{7F29E74C-3C33-B96C-C97D-7D7B018923F7}"/>
                </a:ext>
              </a:extLst>
            </p:cNvPr>
            <p:cNvSpPr/>
            <p:nvPr/>
          </p:nvSpPr>
          <p:spPr>
            <a:xfrm>
              <a:off x="6492240" y="2011680"/>
              <a:ext cx="1371600" cy="777240"/>
            </a:xfrm>
            <a:prstGeom prst="rect">
              <a:avLst/>
            </a:prstGeom>
            <a:solidFill>
              <a:srgbClr val="FEF3C7"/>
            </a:solidFill>
            <a:ln w="12700">
              <a:solidFill>
                <a:srgbClr val="D97706"/>
              </a:solidFill>
              <a:prstDash val="solid"/>
            </a:ln>
          </p:spPr>
          <p:txBody>
            <a:bodyPr/>
            <a:lstStyle/>
            <a:p>
              <a:endParaRPr lang="en-US"/>
            </a:p>
          </p:txBody>
        </p:sp>
        <p:sp>
          <p:nvSpPr>
            <p:cNvPr id="86" name="Text 21">
              <a:extLst>
                <a:ext uri="{FF2B5EF4-FFF2-40B4-BE49-F238E27FC236}">
                  <a16:creationId xmlns:a16="http://schemas.microsoft.com/office/drawing/2014/main" id="{50FE8DF0-50A7-3321-58A0-5B0F86C45B23}"/>
                </a:ext>
              </a:extLst>
            </p:cNvPr>
            <p:cNvSpPr/>
            <p:nvPr/>
          </p:nvSpPr>
          <p:spPr>
            <a:xfrm>
              <a:off x="6492240" y="2011680"/>
              <a:ext cx="1371600" cy="777240"/>
            </a:xfrm>
            <a:prstGeom prst="rect">
              <a:avLst/>
            </a:prstGeom>
            <a:noFill/>
            <a:ln/>
          </p:spPr>
          <p:txBody>
            <a:bodyPr wrap="square" lIns="0" tIns="0" rIns="0" bIns="0"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Llama 3.1 8B</a:t>
              </a:r>
              <a:endParaRPr lang="en-US" sz="1100" dirty="0"/>
            </a:p>
            <a:p>
              <a:pPr marL="0" indent="0" algn="ctr">
                <a:buNone/>
              </a:pPr>
              <a:r>
                <a:rPr lang="en-US" sz="1100" b="1" dirty="0">
                  <a:solidFill>
                    <a:srgbClr val="D97706"/>
                  </a:solidFill>
                  <a:latin typeface="Calibri" pitchFamily="34" charset="0"/>
                  <a:ea typeface="Calibri" pitchFamily="34" charset="-122"/>
                  <a:cs typeface="Calibri" pitchFamily="34" charset="-120"/>
                </a:rPr>
                <a:t>Predict only</a:t>
              </a:r>
              <a:endParaRPr lang="en-US" sz="1100" dirty="0"/>
            </a:p>
          </p:txBody>
        </p:sp>
        <p:sp>
          <p:nvSpPr>
            <p:cNvPr id="87" name="Text 22">
              <a:extLst>
                <a:ext uri="{FF2B5EF4-FFF2-40B4-BE49-F238E27FC236}">
                  <a16:creationId xmlns:a16="http://schemas.microsoft.com/office/drawing/2014/main" id="{18C5DE18-CAB4-7A33-48D5-079259E996EE}"/>
                </a:ext>
              </a:extLst>
            </p:cNvPr>
            <p:cNvSpPr/>
            <p:nvPr/>
          </p:nvSpPr>
          <p:spPr>
            <a:xfrm>
              <a:off x="7086600" y="2743200"/>
              <a:ext cx="182880" cy="228600"/>
            </a:xfrm>
            <a:prstGeom prst="rect">
              <a:avLst/>
            </a:prstGeom>
            <a:noFill/>
            <a:ln/>
          </p:spPr>
          <p:txBody>
            <a:bodyPr wrap="square" lIns="0" tIns="0" rIns="0" bIns="0" rtlCol="0" anchor="ctr"/>
            <a:lstStyle/>
            <a:p>
              <a:pPr marL="0" indent="0" algn="ctr">
                <a:buNone/>
              </a:pPr>
              <a:r>
                <a:rPr lang="en-US" sz="1400" dirty="0">
                  <a:solidFill>
                    <a:srgbClr val="64748B"/>
                  </a:solidFill>
                  <a:latin typeface="Calibri" pitchFamily="34" charset="0"/>
                  <a:ea typeface="Calibri" pitchFamily="34" charset="-122"/>
                  <a:cs typeface="Calibri" pitchFamily="34" charset="-120"/>
                </a:rPr>
                <a:t>↓</a:t>
              </a:r>
              <a:endParaRPr lang="en-US" sz="1400" dirty="0"/>
            </a:p>
          </p:txBody>
        </p:sp>
        <p:sp>
          <p:nvSpPr>
            <p:cNvPr id="88" name="Shape 23">
              <a:extLst>
                <a:ext uri="{FF2B5EF4-FFF2-40B4-BE49-F238E27FC236}">
                  <a16:creationId xmlns:a16="http://schemas.microsoft.com/office/drawing/2014/main" id="{3973587C-2741-D960-F840-437C600E973A}"/>
                </a:ext>
              </a:extLst>
            </p:cNvPr>
            <p:cNvSpPr/>
            <p:nvPr/>
          </p:nvSpPr>
          <p:spPr>
            <a:xfrm>
              <a:off x="6492240" y="2926080"/>
              <a:ext cx="1371600" cy="640080"/>
            </a:xfrm>
            <a:prstGeom prst="rect">
              <a:avLst/>
            </a:prstGeom>
            <a:solidFill>
              <a:srgbClr val="D1FAE5"/>
            </a:solidFill>
            <a:ln w="12700">
              <a:solidFill>
                <a:srgbClr val="059669"/>
              </a:solidFill>
              <a:prstDash val="solid"/>
            </a:ln>
          </p:spPr>
          <p:txBody>
            <a:bodyPr/>
            <a:lstStyle/>
            <a:p>
              <a:endParaRPr lang="en-US"/>
            </a:p>
          </p:txBody>
        </p:sp>
        <p:sp>
          <p:nvSpPr>
            <p:cNvPr id="89" name="Text 24">
              <a:extLst>
                <a:ext uri="{FF2B5EF4-FFF2-40B4-BE49-F238E27FC236}">
                  <a16:creationId xmlns:a16="http://schemas.microsoft.com/office/drawing/2014/main" id="{EF9497E1-DF6A-6D01-7C3C-0BE10F5261D4}"/>
                </a:ext>
              </a:extLst>
            </p:cNvPr>
            <p:cNvSpPr/>
            <p:nvPr/>
          </p:nvSpPr>
          <p:spPr>
            <a:xfrm>
              <a:off x="6492240" y="2926080"/>
              <a:ext cx="1371600" cy="640080"/>
            </a:xfrm>
            <a:prstGeom prst="rect">
              <a:avLst/>
            </a:prstGeom>
            <a:noFill/>
            <a:ln/>
          </p:spPr>
          <p:txBody>
            <a:bodyPr wrap="square" lIns="0" tIns="0" rIns="0" bIns="0" rtlCol="0" anchor="ctr"/>
            <a:lstStyle/>
            <a:p>
              <a:pPr marL="0" indent="0" algn="ctr">
                <a:buNone/>
              </a:pPr>
              <a:r>
                <a:rPr lang="en-US" sz="1100" b="1" dirty="0">
                  <a:solidFill>
                    <a:srgbClr val="059669"/>
                  </a:solidFill>
                  <a:latin typeface="Calibri" pitchFamily="34" charset="0"/>
                  <a:ea typeface="Calibri" pitchFamily="34" charset="-122"/>
                  <a:cs typeface="Calibri" pitchFamily="34" charset="-120"/>
                </a:rPr>
                <a:t>Predicted</a:t>
              </a:r>
              <a:endParaRPr lang="en-US" sz="1100" dirty="0"/>
            </a:p>
            <a:p>
              <a:pPr marL="0" indent="0" algn="ctr">
                <a:buNone/>
              </a:pPr>
              <a:r>
                <a:rPr lang="en-US" sz="1100" b="1" dirty="0">
                  <a:solidFill>
                    <a:srgbClr val="059669"/>
                  </a:solidFill>
                  <a:latin typeface="Calibri" pitchFamily="34" charset="0"/>
                  <a:ea typeface="Calibri" pitchFamily="34" charset="-122"/>
                  <a:cs typeface="Calibri" pitchFamily="34" charset="-120"/>
                </a:rPr>
                <a:t>Value</a:t>
              </a:r>
              <a:endParaRPr lang="en-US" sz="1100" dirty="0"/>
            </a:p>
          </p:txBody>
        </p:sp>
        <p:sp>
          <p:nvSpPr>
            <p:cNvPr id="90" name="Text 25">
              <a:extLst>
                <a:ext uri="{FF2B5EF4-FFF2-40B4-BE49-F238E27FC236}">
                  <a16:creationId xmlns:a16="http://schemas.microsoft.com/office/drawing/2014/main" id="{53F19B43-3B7C-CC08-6D5D-FB0DC201343F}"/>
                </a:ext>
              </a:extLst>
            </p:cNvPr>
            <p:cNvSpPr/>
            <p:nvPr/>
          </p:nvSpPr>
          <p:spPr>
            <a:xfrm>
              <a:off x="274320" y="3749040"/>
              <a:ext cx="1371600" cy="274320"/>
            </a:xfrm>
            <a:prstGeom prst="rect">
              <a:avLst/>
            </a:prstGeom>
            <a:noFill/>
            <a:ln/>
          </p:spPr>
          <p:txBody>
            <a:bodyPr wrap="square" lIns="0" tIns="0" rIns="0" bIns="0"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Evaluation:</a:t>
              </a:r>
              <a:endParaRPr lang="en-US" sz="1100" dirty="0"/>
            </a:p>
          </p:txBody>
        </p:sp>
        <p:sp>
          <p:nvSpPr>
            <p:cNvPr id="91" name="Shape 26">
              <a:extLst>
                <a:ext uri="{FF2B5EF4-FFF2-40B4-BE49-F238E27FC236}">
                  <a16:creationId xmlns:a16="http://schemas.microsoft.com/office/drawing/2014/main" id="{7EC63B87-9F4B-491E-2EF1-704C9EB45307}"/>
                </a:ext>
              </a:extLst>
            </p:cNvPr>
            <p:cNvSpPr/>
            <p:nvPr/>
          </p:nvSpPr>
          <p:spPr>
            <a:xfrm>
              <a:off x="1737360" y="3703320"/>
              <a:ext cx="2743200" cy="502920"/>
            </a:xfrm>
            <a:prstGeom prst="rect">
              <a:avLst/>
            </a:prstGeom>
            <a:solidFill>
              <a:srgbClr val="E0F7FA"/>
            </a:solidFill>
            <a:ln w="12700">
              <a:solidFill>
                <a:srgbClr val="0891B2"/>
              </a:solidFill>
              <a:prstDash val="solid"/>
            </a:ln>
          </p:spPr>
          <p:txBody>
            <a:bodyPr/>
            <a:lstStyle/>
            <a:p>
              <a:endParaRPr lang="en-US"/>
            </a:p>
          </p:txBody>
        </p:sp>
        <p:sp>
          <p:nvSpPr>
            <p:cNvPr id="92" name="Text 27">
              <a:extLst>
                <a:ext uri="{FF2B5EF4-FFF2-40B4-BE49-F238E27FC236}">
                  <a16:creationId xmlns:a16="http://schemas.microsoft.com/office/drawing/2014/main" id="{0310B2E9-50BD-8B3B-B6B9-F98B702C82F7}"/>
                </a:ext>
              </a:extLst>
            </p:cNvPr>
            <p:cNvSpPr/>
            <p:nvPr/>
          </p:nvSpPr>
          <p:spPr>
            <a:xfrm>
              <a:off x="1737360" y="3703320"/>
              <a:ext cx="2743200" cy="502920"/>
            </a:xfrm>
            <a:prstGeom prst="rect">
              <a:avLst/>
            </a:prstGeom>
            <a:noFill/>
            <a:ln/>
          </p:spPr>
          <p:txBody>
            <a:bodyPr wrap="square" lIns="0" tIns="0" rIns="0" bIns="0" rtlCol="0" anchor="ctr"/>
            <a:lstStyle/>
            <a:p>
              <a:pPr marL="0" indent="0" algn="ctr">
                <a:buNone/>
              </a:pPr>
              <a:r>
                <a:rPr lang="en-US" sz="1000" dirty="0">
                  <a:solidFill>
                    <a:srgbClr val="0891B2"/>
                  </a:solidFill>
                  <a:latin typeface="Calibri" pitchFamily="34" charset="0"/>
                  <a:ea typeface="Calibri" pitchFamily="34" charset="-122"/>
                  <a:cs typeface="Calibri" pitchFamily="34" charset="-120"/>
                </a:rPr>
                <a:t>CrossEncoder similarity</a:t>
              </a:r>
              <a:endParaRPr lang="en-US" sz="1000" dirty="0"/>
            </a:p>
            <a:p>
              <a:pPr marL="0" indent="0" algn="ctr">
                <a:buNone/>
              </a:pPr>
              <a:r>
                <a:rPr lang="en-US" sz="1000" dirty="0">
                  <a:solidFill>
                    <a:srgbClr val="0891B2"/>
                  </a:solidFill>
                  <a:latin typeface="Calibri" pitchFamily="34" charset="0"/>
                  <a:ea typeface="Calibri" pitchFamily="34" charset="-122"/>
                  <a:cs typeface="Calibri" pitchFamily="34" charset="-120"/>
                </a:rPr>
                <a:t>(text attributes)</a:t>
              </a:r>
              <a:endParaRPr lang="en-US" sz="1000" dirty="0"/>
            </a:p>
          </p:txBody>
        </p:sp>
        <p:sp>
          <p:nvSpPr>
            <p:cNvPr id="93" name="Shape 28">
              <a:extLst>
                <a:ext uri="{FF2B5EF4-FFF2-40B4-BE49-F238E27FC236}">
                  <a16:creationId xmlns:a16="http://schemas.microsoft.com/office/drawing/2014/main" id="{86F1C9A9-546B-529E-3B4E-2AF0F4173A81}"/>
                </a:ext>
              </a:extLst>
            </p:cNvPr>
            <p:cNvSpPr/>
            <p:nvPr/>
          </p:nvSpPr>
          <p:spPr>
            <a:xfrm>
              <a:off x="4663440" y="3703320"/>
              <a:ext cx="2743200" cy="502920"/>
            </a:xfrm>
            <a:prstGeom prst="rect">
              <a:avLst/>
            </a:prstGeom>
            <a:solidFill>
              <a:srgbClr val="F1F5F9"/>
            </a:solidFill>
            <a:ln w="12700">
              <a:solidFill>
                <a:srgbClr val="64748B"/>
              </a:solidFill>
              <a:prstDash val="solid"/>
            </a:ln>
          </p:spPr>
          <p:txBody>
            <a:bodyPr/>
            <a:lstStyle/>
            <a:p>
              <a:endParaRPr lang="en-US"/>
            </a:p>
          </p:txBody>
        </p:sp>
        <p:sp>
          <p:nvSpPr>
            <p:cNvPr id="94" name="Text 29">
              <a:extLst>
                <a:ext uri="{FF2B5EF4-FFF2-40B4-BE49-F238E27FC236}">
                  <a16:creationId xmlns:a16="http://schemas.microsoft.com/office/drawing/2014/main" id="{5C8134F0-EDEE-9988-9788-6379BF9AABD4}"/>
                </a:ext>
              </a:extLst>
            </p:cNvPr>
            <p:cNvSpPr/>
            <p:nvPr/>
          </p:nvSpPr>
          <p:spPr>
            <a:xfrm>
              <a:off x="4663440" y="3703320"/>
              <a:ext cx="2743200" cy="5029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Rule-based ±10% tolerance</a:t>
              </a:r>
              <a:endParaRPr lang="en-US" sz="1000" dirty="0"/>
            </a:p>
            <a:p>
              <a:pPr marL="0" indent="0" algn="ctr">
                <a:buNone/>
              </a:pPr>
              <a:r>
                <a:rPr lang="en-US" sz="1000" dirty="0">
                  <a:solidFill>
                    <a:srgbClr val="64748B"/>
                  </a:solidFill>
                  <a:latin typeface="Calibri" pitchFamily="34" charset="0"/>
                  <a:ea typeface="Calibri" pitchFamily="34" charset="-122"/>
                  <a:cs typeface="Calibri" pitchFamily="34" charset="-120"/>
                </a:rPr>
                <a:t>(numeric attributes)</a:t>
              </a:r>
              <a:endParaRPr lang="en-US" sz="1000" dirty="0"/>
            </a:p>
          </p:txBody>
        </p:sp>
      </p:grpSp>
    </p:spTree>
    <p:extLst>
      <p:ext uri="{BB962C8B-B14F-4D97-AF65-F5344CB8AC3E}">
        <p14:creationId xmlns:p14="http://schemas.microsoft.com/office/powerpoint/2010/main" val="2266036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D33CF-1B90-4AF2-3D4B-ABE0D346BDB5}"/>
              </a:ext>
            </a:extLst>
          </p:cNvPr>
          <p:cNvSpPr>
            <a:spLocks noGrp="1"/>
          </p:cNvSpPr>
          <p:nvPr>
            <p:ph type="title"/>
          </p:nvPr>
        </p:nvSpPr>
        <p:spPr/>
        <p:txBody>
          <a:bodyPr/>
          <a:lstStyle/>
          <a:p>
            <a:r>
              <a:rPr lang="en-US" dirty="0"/>
              <a:t>Overall Results</a:t>
            </a:r>
          </a:p>
        </p:txBody>
      </p:sp>
      <p:sp>
        <p:nvSpPr>
          <p:cNvPr id="4" name="Date Placeholder 3">
            <a:extLst>
              <a:ext uri="{FF2B5EF4-FFF2-40B4-BE49-F238E27FC236}">
                <a16:creationId xmlns:a16="http://schemas.microsoft.com/office/drawing/2014/main" id="{D25E2E3B-148C-54CB-6CC7-814FE875B699}"/>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FEFD544A-6740-97D3-BDAA-A14D7301E198}"/>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A8993FFE-3F53-E7F3-5F44-BFD23A0FC823}"/>
              </a:ext>
            </a:extLst>
          </p:cNvPr>
          <p:cNvSpPr>
            <a:spLocks noGrp="1"/>
          </p:cNvSpPr>
          <p:nvPr>
            <p:ph type="sldNum" sz="quarter" idx="12"/>
          </p:nvPr>
        </p:nvSpPr>
        <p:spPr/>
        <p:txBody>
          <a:bodyPr/>
          <a:lstStyle/>
          <a:p>
            <a:fld id="{14E2ADB4-C600-2649-8D1D-0066A158FD09}" type="slidenum">
              <a:rPr lang="en-US" smtClean="0"/>
              <a:t>9</a:t>
            </a:fld>
            <a:endParaRPr lang="en-US"/>
          </a:p>
        </p:txBody>
      </p:sp>
      <p:grpSp>
        <p:nvGrpSpPr>
          <p:cNvPr id="7" name="Group 6">
            <a:extLst>
              <a:ext uri="{FF2B5EF4-FFF2-40B4-BE49-F238E27FC236}">
                <a16:creationId xmlns:a16="http://schemas.microsoft.com/office/drawing/2014/main" id="{B5E868A3-384D-328F-2437-A2A263A4FF70}"/>
              </a:ext>
            </a:extLst>
          </p:cNvPr>
          <p:cNvGrpSpPr/>
          <p:nvPr/>
        </p:nvGrpSpPr>
        <p:grpSpPr>
          <a:xfrm>
            <a:off x="8868100" y="1945640"/>
            <a:ext cx="2743200" cy="3017520"/>
            <a:chOff x="7510780" y="1945640"/>
            <a:chExt cx="2743200" cy="3017520"/>
          </a:xfrm>
        </p:grpSpPr>
        <p:sp>
          <p:nvSpPr>
            <p:cNvPr id="10" name="Shape 2">
              <a:extLst>
                <a:ext uri="{FF2B5EF4-FFF2-40B4-BE49-F238E27FC236}">
                  <a16:creationId xmlns:a16="http://schemas.microsoft.com/office/drawing/2014/main" id="{5016D1F6-3477-387A-E2F4-1B0B5773884C}"/>
                </a:ext>
              </a:extLst>
            </p:cNvPr>
            <p:cNvSpPr/>
            <p:nvPr/>
          </p:nvSpPr>
          <p:spPr>
            <a:xfrm>
              <a:off x="7510780" y="1945640"/>
              <a:ext cx="2743200" cy="914400"/>
            </a:xfrm>
            <a:prstGeom prst="rect">
              <a:avLst/>
            </a:prstGeom>
            <a:solidFill>
              <a:srgbClr val="F8FAFC"/>
            </a:solidFill>
            <a:ln w="12700">
              <a:solidFill>
                <a:srgbClr val="0891B2"/>
              </a:solidFill>
              <a:prstDash val="solid"/>
            </a:ln>
          </p:spPr>
          <p:txBody>
            <a:bodyPr/>
            <a:lstStyle/>
            <a:p>
              <a:endParaRPr lang="en-US"/>
            </a:p>
          </p:txBody>
        </p:sp>
        <p:sp>
          <p:nvSpPr>
            <p:cNvPr id="11" name="Text 3">
              <a:extLst>
                <a:ext uri="{FF2B5EF4-FFF2-40B4-BE49-F238E27FC236}">
                  <a16:creationId xmlns:a16="http://schemas.microsoft.com/office/drawing/2014/main" id="{14F839D0-857A-413E-E232-2BDCC670FCF2}"/>
                </a:ext>
              </a:extLst>
            </p:cNvPr>
            <p:cNvSpPr/>
            <p:nvPr/>
          </p:nvSpPr>
          <p:spPr>
            <a:xfrm>
              <a:off x="7510780" y="1991360"/>
              <a:ext cx="2743200" cy="475488"/>
            </a:xfrm>
            <a:prstGeom prst="rect">
              <a:avLst/>
            </a:prstGeom>
            <a:noFill/>
            <a:ln/>
          </p:spPr>
          <p:txBody>
            <a:bodyPr wrap="square" lIns="0" tIns="0" rIns="0" bIns="0" rtlCol="0" anchor="b"/>
            <a:lstStyle/>
            <a:p>
              <a:pPr marL="0" indent="0" algn="ctr">
                <a:buNone/>
              </a:pPr>
              <a:r>
                <a:rPr lang="en-US" sz="2800" b="1" dirty="0">
                  <a:solidFill>
                    <a:srgbClr val="0891B2"/>
                  </a:solidFill>
                  <a:latin typeface="Calibri" pitchFamily="34" charset="0"/>
                  <a:ea typeface="Calibri" pitchFamily="34" charset="-122"/>
                  <a:cs typeface="Calibri" pitchFamily="34" charset="-120"/>
                </a:rPr>
                <a:t>5×</a:t>
              </a:r>
              <a:endParaRPr lang="en-US" sz="2800" dirty="0"/>
            </a:p>
          </p:txBody>
        </p:sp>
        <p:sp>
          <p:nvSpPr>
            <p:cNvPr id="12" name="Text 4">
              <a:extLst>
                <a:ext uri="{FF2B5EF4-FFF2-40B4-BE49-F238E27FC236}">
                  <a16:creationId xmlns:a16="http://schemas.microsoft.com/office/drawing/2014/main" id="{A6233206-90BF-3754-9F9A-E15B82161377}"/>
                </a:ext>
              </a:extLst>
            </p:cNvPr>
            <p:cNvSpPr/>
            <p:nvPr/>
          </p:nvSpPr>
          <p:spPr>
            <a:xfrm>
              <a:off x="7510780" y="2448560"/>
              <a:ext cx="2743200" cy="365760"/>
            </a:xfrm>
            <a:prstGeom prst="rect">
              <a:avLst/>
            </a:prstGeom>
            <a:noFill/>
            <a:ln/>
          </p:spPr>
          <p:txBody>
            <a:bodyPr wrap="square" lIns="0" tIns="0" rIns="0" bIns="0" rtlCol="0" anchor="t"/>
            <a:lstStyle/>
            <a:p>
              <a:pPr marL="0" indent="0" algn="ctr">
                <a:buNone/>
              </a:pPr>
              <a:r>
                <a:rPr lang="en-US" sz="1000" dirty="0">
                  <a:solidFill>
                    <a:srgbClr val="64748B"/>
                  </a:solidFill>
                  <a:latin typeface="Calibri" pitchFamily="34" charset="0"/>
                  <a:ea typeface="Calibri" pitchFamily="34" charset="-122"/>
                  <a:cs typeface="Calibri" pitchFamily="34" charset="-120"/>
                </a:rPr>
                <a:t>RAG vs LLM-only improvement</a:t>
              </a:r>
              <a:endParaRPr lang="en-US" sz="1000" dirty="0"/>
            </a:p>
          </p:txBody>
        </p:sp>
        <p:sp>
          <p:nvSpPr>
            <p:cNvPr id="13" name="Shape 5">
              <a:extLst>
                <a:ext uri="{FF2B5EF4-FFF2-40B4-BE49-F238E27FC236}">
                  <a16:creationId xmlns:a16="http://schemas.microsoft.com/office/drawing/2014/main" id="{92CA2AFB-A293-2544-A1EA-13C0FA501AD0}"/>
                </a:ext>
              </a:extLst>
            </p:cNvPr>
            <p:cNvSpPr/>
            <p:nvPr/>
          </p:nvSpPr>
          <p:spPr>
            <a:xfrm>
              <a:off x="7510780" y="2997200"/>
              <a:ext cx="2743200" cy="914400"/>
            </a:xfrm>
            <a:prstGeom prst="rect">
              <a:avLst/>
            </a:prstGeom>
            <a:solidFill>
              <a:srgbClr val="F8FAFC"/>
            </a:solidFill>
            <a:ln w="12700">
              <a:solidFill>
                <a:srgbClr val="059669"/>
              </a:solidFill>
              <a:prstDash val="solid"/>
            </a:ln>
          </p:spPr>
          <p:txBody>
            <a:bodyPr/>
            <a:lstStyle/>
            <a:p>
              <a:endParaRPr lang="en-US"/>
            </a:p>
          </p:txBody>
        </p:sp>
        <p:sp>
          <p:nvSpPr>
            <p:cNvPr id="14" name="Text 6">
              <a:extLst>
                <a:ext uri="{FF2B5EF4-FFF2-40B4-BE49-F238E27FC236}">
                  <a16:creationId xmlns:a16="http://schemas.microsoft.com/office/drawing/2014/main" id="{795505B4-DC4D-6D41-4111-5EFAA83FD602}"/>
                </a:ext>
              </a:extLst>
            </p:cNvPr>
            <p:cNvSpPr/>
            <p:nvPr/>
          </p:nvSpPr>
          <p:spPr>
            <a:xfrm>
              <a:off x="7510780" y="3042920"/>
              <a:ext cx="2743200" cy="475488"/>
            </a:xfrm>
            <a:prstGeom prst="rect">
              <a:avLst/>
            </a:prstGeom>
            <a:noFill/>
            <a:ln/>
          </p:spPr>
          <p:txBody>
            <a:bodyPr wrap="square" lIns="0" tIns="0" rIns="0" bIns="0" rtlCol="0" anchor="b"/>
            <a:lstStyle/>
            <a:p>
              <a:pPr marL="0" indent="0" algn="ctr">
                <a:buNone/>
              </a:pPr>
              <a:r>
                <a:rPr lang="en-US" sz="2800" b="1" dirty="0">
                  <a:solidFill>
                    <a:srgbClr val="059669"/>
                  </a:solidFill>
                  <a:latin typeface="Calibri" pitchFamily="34" charset="0"/>
                  <a:ea typeface="Calibri" pitchFamily="34" charset="-122"/>
                  <a:cs typeface="Calibri" pitchFamily="34" charset="-120"/>
                </a:rPr>
                <a:t>3.9%</a:t>
              </a:r>
              <a:endParaRPr lang="en-US" sz="2800" dirty="0"/>
            </a:p>
          </p:txBody>
        </p:sp>
        <p:sp>
          <p:nvSpPr>
            <p:cNvPr id="15" name="Text 7">
              <a:extLst>
                <a:ext uri="{FF2B5EF4-FFF2-40B4-BE49-F238E27FC236}">
                  <a16:creationId xmlns:a16="http://schemas.microsoft.com/office/drawing/2014/main" id="{B111C99B-DCE5-5C02-7498-F3C064C98A21}"/>
                </a:ext>
              </a:extLst>
            </p:cNvPr>
            <p:cNvSpPr/>
            <p:nvPr/>
          </p:nvSpPr>
          <p:spPr>
            <a:xfrm>
              <a:off x="7510780" y="3500120"/>
              <a:ext cx="2743200" cy="365760"/>
            </a:xfrm>
            <a:prstGeom prst="rect">
              <a:avLst/>
            </a:prstGeom>
            <a:noFill/>
            <a:ln/>
          </p:spPr>
          <p:txBody>
            <a:bodyPr wrap="square" lIns="0" tIns="0" rIns="0" bIns="0" rtlCol="0" anchor="t"/>
            <a:lstStyle/>
            <a:p>
              <a:pPr marL="0" indent="0" algn="ctr">
                <a:buNone/>
              </a:pPr>
              <a:r>
                <a:rPr lang="en-US" sz="1000" dirty="0">
                  <a:solidFill>
                    <a:srgbClr val="64748B"/>
                  </a:solidFill>
                  <a:latin typeface="Calibri" pitchFamily="34" charset="0"/>
                  <a:ea typeface="Calibri" pitchFamily="34" charset="-122"/>
                  <a:cs typeface="Calibri" pitchFamily="34" charset="-120"/>
                </a:rPr>
                <a:t>UNKNOWN rate: BGE+RR (best)</a:t>
              </a:r>
              <a:endParaRPr lang="en-US" sz="1000" dirty="0"/>
            </a:p>
          </p:txBody>
        </p:sp>
        <p:sp>
          <p:nvSpPr>
            <p:cNvPr id="16" name="Shape 8">
              <a:extLst>
                <a:ext uri="{FF2B5EF4-FFF2-40B4-BE49-F238E27FC236}">
                  <a16:creationId xmlns:a16="http://schemas.microsoft.com/office/drawing/2014/main" id="{B89B2D90-16A2-FEAB-772B-4012FB006980}"/>
                </a:ext>
              </a:extLst>
            </p:cNvPr>
            <p:cNvSpPr/>
            <p:nvPr/>
          </p:nvSpPr>
          <p:spPr>
            <a:xfrm>
              <a:off x="7510780" y="4048760"/>
              <a:ext cx="2743200" cy="914400"/>
            </a:xfrm>
            <a:prstGeom prst="rect">
              <a:avLst/>
            </a:prstGeom>
            <a:solidFill>
              <a:srgbClr val="F8FAFC"/>
            </a:solidFill>
            <a:ln w="12700">
              <a:solidFill>
                <a:srgbClr val="1E3A5F"/>
              </a:solidFill>
              <a:prstDash val="solid"/>
            </a:ln>
          </p:spPr>
          <p:txBody>
            <a:bodyPr/>
            <a:lstStyle/>
            <a:p>
              <a:endParaRPr lang="en-US"/>
            </a:p>
          </p:txBody>
        </p:sp>
        <p:sp>
          <p:nvSpPr>
            <p:cNvPr id="17" name="Text 9">
              <a:extLst>
                <a:ext uri="{FF2B5EF4-FFF2-40B4-BE49-F238E27FC236}">
                  <a16:creationId xmlns:a16="http://schemas.microsoft.com/office/drawing/2014/main" id="{39F7FF56-ACCD-1FB7-3842-274CA1E04B28}"/>
                </a:ext>
              </a:extLst>
            </p:cNvPr>
            <p:cNvSpPr/>
            <p:nvPr/>
          </p:nvSpPr>
          <p:spPr>
            <a:xfrm>
              <a:off x="7510780" y="4094480"/>
              <a:ext cx="2743200" cy="475488"/>
            </a:xfrm>
            <a:prstGeom prst="rect">
              <a:avLst/>
            </a:prstGeom>
            <a:noFill/>
            <a:ln/>
          </p:spPr>
          <p:txBody>
            <a:bodyPr wrap="square" lIns="0" tIns="0" rIns="0" bIns="0" rtlCol="0" anchor="b"/>
            <a:lstStyle/>
            <a:p>
              <a:pPr marL="0" indent="0" algn="ctr">
                <a:buNone/>
              </a:pPr>
              <a:r>
                <a:rPr lang="en-US" sz="2800" b="1" dirty="0">
                  <a:solidFill>
                    <a:srgbClr val="1E3A5F"/>
                  </a:solidFill>
                  <a:latin typeface="Calibri" pitchFamily="34" charset="0"/>
                  <a:ea typeface="Calibri" pitchFamily="34" charset="-122"/>
                  <a:cs typeface="Calibri" pitchFamily="34" charset="-120"/>
                </a:rPr>
                <a:t>82.4%</a:t>
              </a:r>
              <a:endParaRPr lang="en-US" sz="2800" dirty="0"/>
            </a:p>
          </p:txBody>
        </p:sp>
        <p:sp>
          <p:nvSpPr>
            <p:cNvPr id="18" name="Text 10">
              <a:extLst>
                <a:ext uri="{FF2B5EF4-FFF2-40B4-BE49-F238E27FC236}">
                  <a16:creationId xmlns:a16="http://schemas.microsoft.com/office/drawing/2014/main" id="{FBB326FD-6792-8AC1-79CF-0EE680187921}"/>
                </a:ext>
              </a:extLst>
            </p:cNvPr>
            <p:cNvSpPr/>
            <p:nvPr/>
          </p:nvSpPr>
          <p:spPr>
            <a:xfrm>
              <a:off x="7510780" y="4551680"/>
              <a:ext cx="2743200" cy="365760"/>
            </a:xfrm>
            <a:prstGeom prst="rect">
              <a:avLst/>
            </a:prstGeom>
            <a:noFill/>
            <a:ln/>
          </p:spPr>
          <p:txBody>
            <a:bodyPr wrap="square" lIns="0" tIns="0" rIns="0" bIns="0" rtlCol="0" anchor="t"/>
            <a:lstStyle/>
            <a:p>
              <a:pPr algn="ctr"/>
              <a:r>
                <a:rPr lang="en-US" sz="1000" dirty="0">
                  <a:solidFill>
                    <a:srgbClr val="64748B"/>
                  </a:solidFill>
                  <a:latin typeface="Calibri" pitchFamily="34" charset="0"/>
                  <a:cs typeface="Calibri" pitchFamily="34" charset="-120"/>
                </a:rPr>
                <a:t>CE eval: BGE+RR (best)</a:t>
              </a:r>
            </a:p>
          </p:txBody>
        </p:sp>
      </p:grpSp>
      <p:sp>
        <p:nvSpPr>
          <p:cNvPr id="19" name="Text 11">
            <a:extLst>
              <a:ext uri="{FF2B5EF4-FFF2-40B4-BE49-F238E27FC236}">
                <a16:creationId xmlns:a16="http://schemas.microsoft.com/office/drawing/2014/main" id="{3A240B95-1696-8C80-EEEA-C1E79CF83061}"/>
              </a:ext>
            </a:extLst>
          </p:cNvPr>
          <p:cNvSpPr/>
          <p:nvPr/>
        </p:nvSpPr>
        <p:spPr>
          <a:xfrm>
            <a:off x="1658620" y="5740400"/>
            <a:ext cx="8595360" cy="182880"/>
          </a:xfrm>
          <a:prstGeom prst="rect">
            <a:avLst/>
          </a:prstGeom>
          <a:noFill/>
          <a:ln/>
        </p:spPr>
        <p:txBody>
          <a:bodyPr wrap="squar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Semantic eval: LLM-based for Exp 1–2, CrossEncoder for Exp 4a–5 (removes self-evaluation bias).</a:t>
            </a:r>
            <a:endParaRPr lang="en-US" sz="950" dirty="0"/>
          </a:p>
        </p:txBody>
      </p:sp>
      <p:pic>
        <p:nvPicPr>
          <p:cNvPr id="8" name="Picture 7">
            <a:extLst>
              <a:ext uri="{FF2B5EF4-FFF2-40B4-BE49-F238E27FC236}">
                <a16:creationId xmlns:a16="http://schemas.microsoft.com/office/drawing/2014/main" id="{14E18E32-6ED9-2CFB-D882-6CB87D641ED9}"/>
              </a:ext>
            </a:extLst>
          </p:cNvPr>
          <p:cNvPicPr>
            <a:picLocks noChangeAspect="1"/>
          </p:cNvPicPr>
          <p:nvPr/>
        </p:nvPicPr>
        <p:blipFill>
          <a:blip r:embed="rId3"/>
          <a:stretch>
            <a:fillRect/>
          </a:stretch>
        </p:blipFill>
        <p:spPr>
          <a:xfrm>
            <a:off x="838200" y="1847324"/>
            <a:ext cx="7772400" cy="2929782"/>
          </a:xfrm>
          <a:prstGeom prst="rect">
            <a:avLst/>
          </a:prstGeom>
        </p:spPr>
      </p:pic>
    </p:spTree>
    <p:extLst>
      <p:ext uri="{BB962C8B-B14F-4D97-AF65-F5344CB8AC3E}">
        <p14:creationId xmlns:p14="http://schemas.microsoft.com/office/powerpoint/2010/main" val="22980368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3C588-B4CF-59A2-023D-90B2549192E3}"/>
              </a:ext>
            </a:extLst>
          </p:cNvPr>
          <p:cNvSpPr>
            <a:spLocks noGrp="1"/>
          </p:cNvSpPr>
          <p:nvPr>
            <p:ph type="title"/>
          </p:nvPr>
        </p:nvSpPr>
        <p:spPr/>
        <p:txBody>
          <a:bodyPr/>
          <a:lstStyle/>
          <a:p>
            <a:r>
              <a:rPr lang="en-US" dirty="0"/>
              <a:t>Per-Attribute</a:t>
            </a:r>
          </a:p>
        </p:txBody>
      </p:sp>
      <p:sp>
        <p:nvSpPr>
          <p:cNvPr id="4" name="Date Placeholder 3">
            <a:extLst>
              <a:ext uri="{FF2B5EF4-FFF2-40B4-BE49-F238E27FC236}">
                <a16:creationId xmlns:a16="http://schemas.microsoft.com/office/drawing/2014/main" id="{B7AE1A5F-CE0A-4987-B91C-908598626579}"/>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C46AFECC-F7B6-5C10-DCB3-0A086D430BAE}"/>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54641A11-01CB-CBE8-5A36-09B099AB61D3}"/>
              </a:ext>
            </a:extLst>
          </p:cNvPr>
          <p:cNvSpPr>
            <a:spLocks noGrp="1"/>
          </p:cNvSpPr>
          <p:nvPr>
            <p:ph type="sldNum" sz="quarter" idx="12"/>
          </p:nvPr>
        </p:nvSpPr>
        <p:spPr/>
        <p:txBody>
          <a:bodyPr/>
          <a:lstStyle/>
          <a:p>
            <a:fld id="{14E2ADB4-C600-2649-8D1D-0066A158FD09}" type="slidenum">
              <a:rPr lang="en-US" smtClean="0"/>
              <a:t>10</a:t>
            </a:fld>
            <a:endParaRPr lang="en-US"/>
          </a:p>
        </p:txBody>
      </p:sp>
      <p:pic>
        <p:nvPicPr>
          <p:cNvPr id="9" name="Picture 8">
            <a:extLst>
              <a:ext uri="{FF2B5EF4-FFF2-40B4-BE49-F238E27FC236}">
                <a16:creationId xmlns:a16="http://schemas.microsoft.com/office/drawing/2014/main" id="{92A4AA81-2D46-FAA3-CE53-C23CE7DED17D}"/>
              </a:ext>
            </a:extLst>
          </p:cNvPr>
          <p:cNvPicPr>
            <a:picLocks noChangeAspect="1"/>
          </p:cNvPicPr>
          <p:nvPr/>
        </p:nvPicPr>
        <p:blipFill>
          <a:blip r:embed="rId3"/>
          <a:stretch>
            <a:fillRect/>
          </a:stretch>
        </p:blipFill>
        <p:spPr>
          <a:xfrm>
            <a:off x="838199" y="1843787"/>
            <a:ext cx="10778447" cy="4356988"/>
          </a:xfrm>
          <a:prstGeom prst="rect">
            <a:avLst/>
          </a:prstGeom>
        </p:spPr>
      </p:pic>
    </p:spTree>
    <p:extLst>
      <p:ext uri="{BB962C8B-B14F-4D97-AF65-F5344CB8AC3E}">
        <p14:creationId xmlns:p14="http://schemas.microsoft.com/office/powerpoint/2010/main" val="14985162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7E6D8-C6D5-9AF1-304F-F50D5DE87196}"/>
              </a:ext>
            </a:extLst>
          </p:cNvPr>
          <p:cNvSpPr>
            <a:spLocks noGrp="1"/>
          </p:cNvSpPr>
          <p:nvPr>
            <p:ph type="title"/>
          </p:nvPr>
        </p:nvSpPr>
        <p:spPr/>
        <p:txBody>
          <a:bodyPr/>
          <a:lstStyle/>
          <a:p>
            <a:r>
              <a:rPr lang="en-US" dirty="0"/>
              <a:t>Numeric Attributes Need Retrieval</a:t>
            </a:r>
          </a:p>
        </p:txBody>
      </p:sp>
      <p:sp>
        <p:nvSpPr>
          <p:cNvPr id="4" name="Date Placeholder 3">
            <a:extLst>
              <a:ext uri="{FF2B5EF4-FFF2-40B4-BE49-F238E27FC236}">
                <a16:creationId xmlns:a16="http://schemas.microsoft.com/office/drawing/2014/main" id="{982F214E-A763-CC48-2AF9-015D1EDA2A6F}"/>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EDF11A64-64CE-4394-639D-22C8A192BEDD}"/>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638BA48D-2121-5060-4F94-78E857F84AE2}"/>
              </a:ext>
            </a:extLst>
          </p:cNvPr>
          <p:cNvSpPr>
            <a:spLocks noGrp="1"/>
          </p:cNvSpPr>
          <p:nvPr>
            <p:ph type="sldNum" sz="quarter" idx="12"/>
          </p:nvPr>
        </p:nvSpPr>
        <p:spPr/>
        <p:txBody>
          <a:bodyPr/>
          <a:lstStyle/>
          <a:p>
            <a:fld id="{14E2ADB4-C600-2649-8D1D-0066A158FD09}" type="slidenum">
              <a:rPr lang="en-US" smtClean="0"/>
              <a:t>11</a:t>
            </a:fld>
            <a:endParaRPr lang="en-US"/>
          </a:p>
        </p:txBody>
      </p:sp>
      <p:grpSp>
        <p:nvGrpSpPr>
          <p:cNvPr id="7" name="Group 6">
            <a:extLst>
              <a:ext uri="{FF2B5EF4-FFF2-40B4-BE49-F238E27FC236}">
                <a16:creationId xmlns:a16="http://schemas.microsoft.com/office/drawing/2014/main" id="{FE9D4B1C-94D7-177E-8F11-C9C9D436FCEB}"/>
              </a:ext>
            </a:extLst>
          </p:cNvPr>
          <p:cNvGrpSpPr/>
          <p:nvPr/>
        </p:nvGrpSpPr>
        <p:grpSpPr>
          <a:xfrm>
            <a:off x="838200" y="2073274"/>
            <a:ext cx="10373971" cy="1325563"/>
            <a:chOff x="365760" y="1280160"/>
            <a:chExt cx="10972800" cy="1402080"/>
          </a:xfrm>
        </p:grpSpPr>
        <p:sp>
          <p:nvSpPr>
            <p:cNvPr id="8" name="Shape 2">
              <a:extLst>
                <a:ext uri="{FF2B5EF4-FFF2-40B4-BE49-F238E27FC236}">
                  <a16:creationId xmlns:a16="http://schemas.microsoft.com/office/drawing/2014/main" id="{521352DE-A8C6-35D8-73EB-309070B03E0C}"/>
                </a:ext>
              </a:extLst>
            </p:cNvPr>
            <p:cNvSpPr/>
            <p:nvPr/>
          </p:nvSpPr>
          <p:spPr>
            <a:xfrm>
              <a:off x="365760" y="1280160"/>
              <a:ext cx="2560320" cy="1402080"/>
            </a:xfrm>
            <a:prstGeom prst="rect">
              <a:avLst/>
            </a:prstGeom>
            <a:solidFill>
              <a:srgbClr val="F8FAFC"/>
            </a:solidFill>
            <a:ln w="12700">
              <a:solidFill>
                <a:srgbClr val="DC2626"/>
              </a:solidFill>
              <a:prstDash val="solid"/>
            </a:ln>
          </p:spPr>
          <p:txBody>
            <a:bodyPr/>
            <a:lstStyle/>
            <a:p>
              <a:endParaRPr lang="en-US" sz="2400"/>
            </a:p>
          </p:txBody>
        </p:sp>
        <p:sp>
          <p:nvSpPr>
            <p:cNvPr id="9" name="Text 3">
              <a:extLst>
                <a:ext uri="{FF2B5EF4-FFF2-40B4-BE49-F238E27FC236}">
                  <a16:creationId xmlns:a16="http://schemas.microsoft.com/office/drawing/2014/main" id="{68FEDF36-EC56-A630-9035-108D9A2264EA}"/>
                </a:ext>
              </a:extLst>
            </p:cNvPr>
            <p:cNvSpPr/>
            <p:nvPr/>
          </p:nvSpPr>
          <p:spPr>
            <a:xfrm>
              <a:off x="365760" y="1341121"/>
              <a:ext cx="2560320" cy="729081"/>
            </a:xfrm>
            <a:prstGeom prst="rect">
              <a:avLst/>
            </a:prstGeom>
            <a:noFill/>
            <a:ln/>
          </p:spPr>
          <p:txBody>
            <a:bodyPr wrap="square" lIns="0" tIns="0" rIns="0" bIns="0" rtlCol="0" anchor="b"/>
            <a:lstStyle/>
            <a:p>
              <a:pPr algn="ctr"/>
              <a:r>
                <a:rPr lang="en-US" sz="3733" b="1" dirty="0">
                  <a:solidFill>
                    <a:srgbClr val="DC2626"/>
                  </a:solidFill>
                  <a:latin typeface="Calibri" pitchFamily="34" charset="0"/>
                  <a:ea typeface="Calibri" pitchFamily="34" charset="-122"/>
                  <a:cs typeface="Calibri" pitchFamily="34" charset="-120"/>
                </a:rPr>
                <a:t>0%</a:t>
              </a:r>
              <a:endParaRPr lang="en-US" sz="3733" dirty="0"/>
            </a:p>
          </p:txBody>
        </p:sp>
        <p:sp>
          <p:nvSpPr>
            <p:cNvPr id="10" name="Text 4">
              <a:extLst>
                <a:ext uri="{FF2B5EF4-FFF2-40B4-BE49-F238E27FC236}">
                  <a16:creationId xmlns:a16="http://schemas.microsoft.com/office/drawing/2014/main" id="{F6D5ACC7-238C-4D38-2E72-A53FA09B6EB0}"/>
                </a:ext>
              </a:extLst>
            </p:cNvPr>
            <p:cNvSpPr/>
            <p:nvPr/>
          </p:nvSpPr>
          <p:spPr>
            <a:xfrm>
              <a:off x="365760" y="2051304"/>
              <a:ext cx="2560320" cy="560832"/>
            </a:xfrm>
            <a:prstGeom prst="rect">
              <a:avLst/>
            </a:prstGeom>
            <a:noFill/>
            <a:ln/>
          </p:spPr>
          <p:txBody>
            <a:bodyPr wrap="square" lIns="0" tIns="0" rIns="0" bIns="0" rtlCol="0" anchor="t"/>
            <a:lstStyle/>
            <a:p>
              <a:pPr algn="ctr"/>
              <a:r>
                <a:rPr lang="en-US" sz="1333" dirty="0">
                  <a:solidFill>
                    <a:srgbClr val="64748B"/>
                  </a:solidFill>
                  <a:latin typeface="Calibri" pitchFamily="34" charset="0"/>
                  <a:ea typeface="Calibri" pitchFamily="34" charset="-122"/>
                  <a:cs typeface="Calibri" pitchFamily="34" charset="-120"/>
                </a:rPr>
                <a:t>LLM-only on ALL</a:t>
              </a:r>
              <a:endParaRPr lang="en-US" sz="1333" dirty="0"/>
            </a:p>
            <a:p>
              <a:pPr algn="ctr"/>
              <a:r>
                <a:rPr lang="en-US" sz="1333" dirty="0">
                  <a:solidFill>
                    <a:srgbClr val="64748B"/>
                  </a:solidFill>
                  <a:latin typeface="Calibri" pitchFamily="34" charset="0"/>
                  <a:ea typeface="Calibri" pitchFamily="34" charset="-122"/>
                  <a:cs typeface="Calibri" pitchFamily="34" charset="-120"/>
                </a:rPr>
                <a:t>numeric attributes</a:t>
              </a:r>
              <a:endParaRPr lang="en-US" sz="1333" dirty="0"/>
            </a:p>
          </p:txBody>
        </p:sp>
        <p:sp>
          <p:nvSpPr>
            <p:cNvPr id="11" name="Shape 5">
              <a:extLst>
                <a:ext uri="{FF2B5EF4-FFF2-40B4-BE49-F238E27FC236}">
                  <a16:creationId xmlns:a16="http://schemas.microsoft.com/office/drawing/2014/main" id="{C3697751-EDF4-AE5E-D8A0-008BC9977F1C}"/>
                </a:ext>
              </a:extLst>
            </p:cNvPr>
            <p:cNvSpPr/>
            <p:nvPr/>
          </p:nvSpPr>
          <p:spPr>
            <a:xfrm>
              <a:off x="3169920" y="1280160"/>
              <a:ext cx="2560320" cy="1402080"/>
            </a:xfrm>
            <a:prstGeom prst="rect">
              <a:avLst/>
            </a:prstGeom>
            <a:solidFill>
              <a:srgbClr val="F8FAFC"/>
            </a:solidFill>
            <a:ln w="12700">
              <a:solidFill>
                <a:srgbClr val="0891B2"/>
              </a:solidFill>
              <a:prstDash val="solid"/>
            </a:ln>
          </p:spPr>
          <p:txBody>
            <a:bodyPr/>
            <a:lstStyle/>
            <a:p>
              <a:endParaRPr lang="en-US" sz="2400"/>
            </a:p>
          </p:txBody>
        </p:sp>
        <p:sp>
          <p:nvSpPr>
            <p:cNvPr id="12" name="Text 6">
              <a:extLst>
                <a:ext uri="{FF2B5EF4-FFF2-40B4-BE49-F238E27FC236}">
                  <a16:creationId xmlns:a16="http://schemas.microsoft.com/office/drawing/2014/main" id="{7CDDA8EA-D59D-914C-6AC9-90A4D9AA62B8}"/>
                </a:ext>
              </a:extLst>
            </p:cNvPr>
            <p:cNvSpPr/>
            <p:nvPr/>
          </p:nvSpPr>
          <p:spPr>
            <a:xfrm>
              <a:off x="3169920" y="1341121"/>
              <a:ext cx="2560320" cy="729081"/>
            </a:xfrm>
            <a:prstGeom prst="rect">
              <a:avLst/>
            </a:prstGeom>
            <a:noFill/>
            <a:ln/>
          </p:spPr>
          <p:txBody>
            <a:bodyPr wrap="square" lIns="0" tIns="0" rIns="0" bIns="0" rtlCol="0" anchor="b"/>
            <a:lstStyle/>
            <a:p>
              <a:pPr algn="ctr"/>
              <a:r>
                <a:rPr lang="en-US" sz="3733" b="1" dirty="0">
                  <a:solidFill>
                    <a:srgbClr val="0891B2"/>
                  </a:solidFill>
                  <a:latin typeface="Calibri" pitchFamily="34" charset="0"/>
                  <a:ea typeface="Calibri" pitchFamily="34" charset="-122"/>
                  <a:cs typeface="Calibri" pitchFamily="34" charset="-120"/>
                </a:rPr>
                <a:t>90%</a:t>
              </a:r>
              <a:endParaRPr lang="en-US" sz="3733" dirty="0"/>
            </a:p>
          </p:txBody>
        </p:sp>
        <p:sp>
          <p:nvSpPr>
            <p:cNvPr id="13" name="Text 7">
              <a:extLst>
                <a:ext uri="{FF2B5EF4-FFF2-40B4-BE49-F238E27FC236}">
                  <a16:creationId xmlns:a16="http://schemas.microsoft.com/office/drawing/2014/main" id="{3E9BC9E0-AE13-A6AD-E6B5-AC064E1CADE9}"/>
                </a:ext>
              </a:extLst>
            </p:cNvPr>
            <p:cNvSpPr/>
            <p:nvPr/>
          </p:nvSpPr>
          <p:spPr>
            <a:xfrm>
              <a:off x="3169920" y="2051304"/>
              <a:ext cx="2560320" cy="560832"/>
            </a:xfrm>
            <a:prstGeom prst="rect">
              <a:avLst/>
            </a:prstGeom>
            <a:noFill/>
            <a:ln/>
          </p:spPr>
          <p:txBody>
            <a:bodyPr wrap="square" lIns="0" tIns="0" rIns="0" bIns="0" rtlCol="0" anchor="t"/>
            <a:lstStyle/>
            <a:p>
              <a:pPr algn="ctr"/>
              <a:r>
                <a:rPr lang="en-US" sz="1333" dirty="0">
                  <a:solidFill>
                    <a:srgbClr val="64748B"/>
                  </a:solidFill>
                  <a:latin typeface="Calibri" pitchFamily="34" charset="0"/>
                  <a:ea typeface="Calibri" pitchFamily="34" charset="-122"/>
                  <a:cs typeface="Calibri" pitchFamily="34" charset="-120"/>
                </a:rPr>
                <a:t>read_speed</a:t>
              </a:r>
              <a:endParaRPr lang="en-US" sz="1333" dirty="0"/>
            </a:p>
            <a:p>
              <a:pPr algn="ctr"/>
              <a:r>
                <a:rPr lang="en-US" sz="1333" dirty="0">
                  <a:solidFill>
                    <a:srgbClr val="64748B"/>
                  </a:solidFill>
                  <a:latin typeface="Calibri" pitchFamily="34" charset="0"/>
                  <a:ea typeface="Calibri" pitchFamily="34" charset="-122"/>
                  <a:cs typeface="Calibri" pitchFamily="34" charset="-120"/>
                </a:rPr>
                <a:t>+Reranker &amp; BGE</a:t>
              </a:r>
              <a:endParaRPr lang="en-US" sz="1333" dirty="0"/>
            </a:p>
          </p:txBody>
        </p:sp>
        <p:sp>
          <p:nvSpPr>
            <p:cNvPr id="14" name="Shape 8">
              <a:extLst>
                <a:ext uri="{FF2B5EF4-FFF2-40B4-BE49-F238E27FC236}">
                  <a16:creationId xmlns:a16="http://schemas.microsoft.com/office/drawing/2014/main" id="{EAF3BC0A-68DE-BF08-78ED-2FA79A3B94D1}"/>
                </a:ext>
              </a:extLst>
            </p:cNvPr>
            <p:cNvSpPr/>
            <p:nvPr/>
          </p:nvSpPr>
          <p:spPr>
            <a:xfrm>
              <a:off x="5974080" y="1280160"/>
              <a:ext cx="2560320" cy="1402080"/>
            </a:xfrm>
            <a:prstGeom prst="rect">
              <a:avLst/>
            </a:prstGeom>
            <a:solidFill>
              <a:srgbClr val="F8FAFC"/>
            </a:solidFill>
            <a:ln w="12700">
              <a:solidFill>
                <a:srgbClr val="059669"/>
              </a:solidFill>
              <a:prstDash val="solid"/>
            </a:ln>
          </p:spPr>
          <p:txBody>
            <a:bodyPr/>
            <a:lstStyle/>
            <a:p>
              <a:endParaRPr lang="en-US" sz="2400"/>
            </a:p>
          </p:txBody>
        </p:sp>
        <p:sp>
          <p:nvSpPr>
            <p:cNvPr id="15" name="Text 9">
              <a:extLst>
                <a:ext uri="{FF2B5EF4-FFF2-40B4-BE49-F238E27FC236}">
                  <a16:creationId xmlns:a16="http://schemas.microsoft.com/office/drawing/2014/main" id="{B8676DD5-0956-2536-EA8D-2B59D5D805F7}"/>
                </a:ext>
              </a:extLst>
            </p:cNvPr>
            <p:cNvSpPr/>
            <p:nvPr/>
          </p:nvSpPr>
          <p:spPr>
            <a:xfrm>
              <a:off x="5974080" y="1341121"/>
              <a:ext cx="2560320" cy="729081"/>
            </a:xfrm>
            <a:prstGeom prst="rect">
              <a:avLst/>
            </a:prstGeom>
            <a:noFill/>
            <a:ln/>
          </p:spPr>
          <p:txBody>
            <a:bodyPr wrap="square" lIns="0" tIns="0" rIns="0" bIns="0" rtlCol="0" anchor="b"/>
            <a:lstStyle/>
            <a:p>
              <a:pPr algn="ctr"/>
              <a:r>
                <a:rPr lang="en-US" sz="3733" b="1" dirty="0">
                  <a:solidFill>
                    <a:srgbClr val="059669"/>
                  </a:solidFill>
                  <a:latin typeface="Calibri" pitchFamily="34" charset="0"/>
                  <a:ea typeface="Calibri" pitchFamily="34" charset="-122"/>
                  <a:cs typeface="Calibri" pitchFamily="34" charset="-120"/>
                </a:rPr>
                <a:t>100%</a:t>
              </a:r>
              <a:endParaRPr lang="en-US" sz="3733" dirty="0"/>
            </a:p>
          </p:txBody>
        </p:sp>
        <p:sp>
          <p:nvSpPr>
            <p:cNvPr id="16" name="Text 10">
              <a:extLst>
                <a:ext uri="{FF2B5EF4-FFF2-40B4-BE49-F238E27FC236}">
                  <a16:creationId xmlns:a16="http://schemas.microsoft.com/office/drawing/2014/main" id="{A60F48FB-62CC-97A8-132A-AD829A9B195E}"/>
                </a:ext>
              </a:extLst>
            </p:cNvPr>
            <p:cNvSpPr/>
            <p:nvPr/>
          </p:nvSpPr>
          <p:spPr>
            <a:xfrm>
              <a:off x="5974080" y="2051304"/>
              <a:ext cx="2560320" cy="560832"/>
            </a:xfrm>
            <a:prstGeom prst="rect">
              <a:avLst/>
            </a:prstGeom>
            <a:noFill/>
            <a:ln/>
          </p:spPr>
          <p:txBody>
            <a:bodyPr wrap="square" lIns="0" tIns="0" rIns="0" bIns="0" rtlCol="0" anchor="t"/>
            <a:lstStyle/>
            <a:p>
              <a:pPr algn="ctr"/>
              <a:r>
                <a:rPr lang="en-US" sz="1333" dirty="0">
                  <a:solidFill>
                    <a:srgbClr val="64748B"/>
                  </a:solidFill>
                  <a:latin typeface="Calibri" pitchFamily="34" charset="0"/>
                  <a:ea typeface="Calibri" pitchFamily="34" charset="-122"/>
                  <a:cs typeface="Calibri" pitchFamily="34" charset="-120"/>
                </a:rPr>
                <a:t>write_speed</a:t>
              </a:r>
              <a:endParaRPr lang="en-US" sz="1333" dirty="0"/>
            </a:p>
            <a:p>
              <a:pPr algn="ctr"/>
              <a:r>
                <a:rPr lang="en-US" sz="1333" dirty="0">
                  <a:solidFill>
                    <a:srgbClr val="64748B"/>
                  </a:solidFill>
                  <a:latin typeface="Calibri" pitchFamily="34" charset="0"/>
                  <a:ea typeface="Calibri" pitchFamily="34" charset="-122"/>
                  <a:cs typeface="Calibri" pitchFamily="34" charset="-120"/>
                </a:rPr>
                <a:t>with RAG &amp; BGE</a:t>
              </a:r>
              <a:endParaRPr lang="en-US" sz="1333" dirty="0"/>
            </a:p>
          </p:txBody>
        </p:sp>
        <p:sp>
          <p:nvSpPr>
            <p:cNvPr id="17" name="Shape 11">
              <a:extLst>
                <a:ext uri="{FF2B5EF4-FFF2-40B4-BE49-F238E27FC236}">
                  <a16:creationId xmlns:a16="http://schemas.microsoft.com/office/drawing/2014/main" id="{21C75B01-4967-A20C-B210-15B97461F8A8}"/>
                </a:ext>
              </a:extLst>
            </p:cNvPr>
            <p:cNvSpPr/>
            <p:nvPr/>
          </p:nvSpPr>
          <p:spPr>
            <a:xfrm>
              <a:off x="8778240" y="1280160"/>
              <a:ext cx="2560320" cy="1402080"/>
            </a:xfrm>
            <a:prstGeom prst="rect">
              <a:avLst/>
            </a:prstGeom>
            <a:solidFill>
              <a:srgbClr val="F8FAFC"/>
            </a:solidFill>
            <a:ln w="12700">
              <a:solidFill>
                <a:srgbClr val="1E3A5F"/>
              </a:solidFill>
              <a:prstDash val="solid"/>
            </a:ln>
          </p:spPr>
          <p:txBody>
            <a:bodyPr/>
            <a:lstStyle/>
            <a:p>
              <a:endParaRPr lang="en-US" sz="2400"/>
            </a:p>
          </p:txBody>
        </p:sp>
        <p:sp>
          <p:nvSpPr>
            <p:cNvPr id="18" name="Text 12">
              <a:extLst>
                <a:ext uri="{FF2B5EF4-FFF2-40B4-BE49-F238E27FC236}">
                  <a16:creationId xmlns:a16="http://schemas.microsoft.com/office/drawing/2014/main" id="{8F1009F7-648B-A13C-C0BC-B533DE15000E}"/>
                </a:ext>
              </a:extLst>
            </p:cNvPr>
            <p:cNvSpPr/>
            <p:nvPr/>
          </p:nvSpPr>
          <p:spPr>
            <a:xfrm>
              <a:off x="8778240" y="1341121"/>
              <a:ext cx="2560320" cy="729081"/>
            </a:xfrm>
            <a:prstGeom prst="rect">
              <a:avLst/>
            </a:prstGeom>
            <a:noFill/>
            <a:ln/>
          </p:spPr>
          <p:txBody>
            <a:bodyPr wrap="square" lIns="0" tIns="0" rIns="0" bIns="0" rtlCol="0" anchor="b"/>
            <a:lstStyle/>
            <a:p>
              <a:pPr algn="ctr"/>
              <a:r>
                <a:rPr lang="en-US" sz="3733" b="1" dirty="0">
                  <a:solidFill>
                    <a:srgbClr val="1E3A5F"/>
                  </a:solidFill>
                  <a:latin typeface="Calibri" pitchFamily="34" charset="0"/>
                  <a:ea typeface="Calibri" pitchFamily="34" charset="-122"/>
                  <a:cs typeface="Calibri" pitchFamily="34" charset="-120"/>
                </a:rPr>
                <a:t>83%</a:t>
              </a:r>
              <a:endParaRPr lang="en-US" sz="3733" dirty="0"/>
            </a:p>
          </p:txBody>
        </p:sp>
        <p:sp>
          <p:nvSpPr>
            <p:cNvPr id="19" name="Text 13">
              <a:extLst>
                <a:ext uri="{FF2B5EF4-FFF2-40B4-BE49-F238E27FC236}">
                  <a16:creationId xmlns:a16="http://schemas.microsoft.com/office/drawing/2014/main" id="{692864B4-F816-23D7-3FB2-0E1073B99497}"/>
                </a:ext>
              </a:extLst>
            </p:cNvPr>
            <p:cNvSpPr/>
            <p:nvPr/>
          </p:nvSpPr>
          <p:spPr>
            <a:xfrm>
              <a:off x="8778240" y="2051304"/>
              <a:ext cx="2560320" cy="560832"/>
            </a:xfrm>
            <a:prstGeom prst="rect">
              <a:avLst/>
            </a:prstGeom>
            <a:noFill/>
            <a:ln/>
          </p:spPr>
          <p:txBody>
            <a:bodyPr wrap="square" lIns="0" tIns="0" rIns="0" bIns="0" rtlCol="0" anchor="t"/>
            <a:lstStyle/>
            <a:p>
              <a:pPr algn="ctr"/>
              <a:r>
                <a:rPr lang="en-US" sz="1333" dirty="0">
                  <a:solidFill>
                    <a:srgbClr val="64748B"/>
                  </a:solidFill>
                  <a:latin typeface="Calibri" pitchFamily="34" charset="0"/>
                  <a:ea typeface="Calibri" pitchFamily="34" charset="-122"/>
                  <a:cs typeface="Calibri" pitchFamily="34" charset="-120"/>
                </a:rPr>
                <a:t>width_mm</a:t>
              </a:r>
              <a:endParaRPr lang="en-US" sz="1333" dirty="0"/>
            </a:p>
            <a:p>
              <a:pPr algn="ctr"/>
              <a:r>
                <a:rPr lang="en-US" sz="1333" dirty="0">
                  <a:solidFill>
                    <a:srgbClr val="64748B"/>
                  </a:solidFill>
                  <a:latin typeface="Calibri" pitchFamily="34" charset="0"/>
                  <a:ea typeface="Calibri" pitchFamily="34" charset="-122"/>
                  <a:cs typeface="Calibri" pitchFamily="34" charset="-120"/>
                </a:rPr>
                <a:t>with BGE+RR</a:t>
              </a:r>
              <a:endParaRPr lang="en-US" sz="1333" dirty="0"/>
            </a:p>
          </p:txBody>
        </p:sp>
      </p:grpSp>
    </p:spTree>
    <p:extLst>
      <p:ext uri="{BB962C8B-B14F-4D97-AF65-F5344CB8AC3E}">
        <p14:creationId xmlns:p14="http://schemas.microsoft.com/office/powerpoint/2010/main" val="409724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4B564-9453-0075-A4F6-A820EA1B458D}"/>
              </a:ext>
            </a:extLst>
          </p:cNvPr>
          <p:cNvSpPr>
            <a:spLocks noGrp="1"/>
          </p:cNvSpPr>
          <p:nvPr>
            <p:ph type="title"/>
          </p:nvPr>
        </p:nvSpPr>
        <p:spPr/>
        <p:txBody>
          <a:bodyPr/>
          <a:lstStyle/>
          <a:p>
            <a:r>
              <a:rPr lang="en-US" dirty="0"/>
              <a:t>Text vs Numeric: Where RAG Helps Most</a:t>
            </a:r>
          </a:p>
        </p:txBody>
      </p:sp>
      <p:pic>
        <p:nvPicPr>
          <p:cNvPr id="7" name="Content Placeholder 6">
            <a:extLst>
              <a:ext uri="{FF2B5EF4-FFF2-40B4-BE49-F238E27FC236}">
                <a16:creationId xmlns:a16="http://schemas.microsoft.com/office/drawing/2014/main" id="{DB0B8C78-829E-5157-F4BE-9208410CC676}"/>
              </a:ext>
            </a:extLst>
          </p:cNvPr>
          <p:cNvPicPr>
            <a:picLocks noGrp="1" noChangeAspect="1"/>
          </p:cNvPicPr>
          <p:nvPr>
            <p:ph idx="1"/>
          </p:nvPr>
        </p:nvPicPr>
        <p:blipFill>
          <a:blip r:embed="rId3"/>
          <a:stretch>
            <a:fillRect/>
          </a:stretch>
        </p:blipFill>
        <p:spPr>
          <a:xfrm>
            <a:off x="2571776" y="1847850"/>
            <a:ext cx="7048448" cy="4351338"/>
          </a:xfrm>
          <a:prstGeom prst="rect">
            <a:avLst/>
          </a:prstGeom>
        </p:spPr>
      </p:pic>
      <p:sp>
        <p:nvSpPr>
          <p:cNvPr id="4" name="Date Placeholder 3">
            <a:extLst>
              <a:ext uri="{FF2B5EF4-FFF2-40B4-BE49-F238E27FC236}">
                <a16:creationId xmlns:a16="http://schemas.microsoft.com/office/drawing/2014/main" id="{618F7734-87F4-BBE1-CEC5-D3CC8A112F9E}"/>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770BF878-9A22-CF33-5CAD-BD39F0AF479F}"/>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1313284E-8DF2-6386-3F2A-32A10C9A0FDD}"/>
              </a:ext>
            </a:extLst>
          </p:cNvPr>
          <p:cNvSpPr>
            <a:spLocks noGrp="1"/>
          </p:cNvSpPr>
          <p:nvPr>
            <p:ph type="sldNum" sz="quarter" idx="12"/>
          </p:nvPr>
        </p:nvSpPr>
        <p:spPr/>
        <p:txBody>
          <a:bodyPr/>
          <a:lstStyle/>
          <a:p>
            <a:fld id="{14E2ADB4-C600-2649-8D1D-0066A158FD09}" type="slidenum">
              <a:rPr lang="en-US" smtClean="0"/>
              <a:t>12</a:t>
            </a:fld>
            <a:endParaRPr lang="en-US"/>
          </a:p>
        </p:txBody>
      </p:sp>
    </p:spTree>
    <p:extLst>
      <p:ext uri="{BB962C8B-B14F-4D97-AF65-F5344CB8AC3E}">
        <p14:creationId xmlns:p14="http://schemas.microsoft.com/office/powerpoint/2010/main" val="35721896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48491-3D49-9DA8-C1C9-B822008F722A}"/>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Conclusion</a:t>
            </a:r>
          </a:p>
        </p:txBody>
      </p:sp>
      <p:sp>
        <p:nvSpPr>
          <p:cNvPr id="4" name="Date Placeholder 3">
            <a:extLst>
              <a:ext uri="{FF2B5EF4-FFF2-40B4-BE49-F238E27FC236}">
                <a16:creationId xmlns:a16="http://schemas.microsoft.com/office/drawing/2014/main" id="{675545B1-B161-532A-217F-C11F8AEBB674}"/>
              </a:ext>
            </a:extLst>
          </p:cNvPr>
          <p:cNvSpPr>
            <a:spLocks noGrp="1"/>
          </p:cNvSpPr>
          <p:nvPr>
            <p:ph type="dt" sz="half" idx="10"/>
          </p:nvPr>
        </p:nvSpPr>
        <p:spPr/>
        <p:txBody>
          <a:bodyPr/>
          <a:lstStyle/>
          <a:p>
            <a:fld id="{ECA71EE4-6D53-5D46-A331-205830A60010}" type="datetime1">
              <a:rPr lang="en-US" smtClean="0"/>
              <a:t>4/13/26</a:t>
            </a:fld>
            <a:endParaRPr lang="en-US"/>
          </a:p>
        </p:txBody>
      </p:sp>
      <p:sp>
        <p:nvSpPr>
          <p:cNvPr id="5" name="Footer Placeholder 4">
            <a:extLst>
              <a:ext uri="{FF2B5EF4-FFF2-40B4-BE49-F238E27FC236}">
                <a16:creationId xmlns:a16="http://schemas.microsoft.com/office/drawing/2014/main" id="{F629711A-9A7B-27A4-7666-F82C784D5DA7}"/>
              </a:ext>
            </a:extLst>
          </p:cNvPr>
          <p:cNvSpPr>
            <a:spLocks noGrp="1"/>
          </p:cNvSpPr>
          <p:nvPr>
            <p:ph type="ftr" sz="quarter" idx="11"/>
          </p:nvPr>
        </p:nvSpPr>
        <p:spPr/>
        <p:txBody>
          <a:bodyPr/>
          <a:lstStyle/>
          <a:p>
            <a:r>
              <a:rPr lang="en-US" b="1"/>
              <a:t>Seminar CS715: Solving Complex Tasks using LLMs</a:t>
            </a:r>
            <a:endParaRPr lang="en-US" b="1" dirty="0"/>
          </a:p>
        </p:txBody>
      </p:sp>
      <p:sp>
        <p:nvSpPr>
          <p:cNvPr id="6" name="Slide Number Placeholder 5">
            <a:extLst>
              <a:ext uri="{FF2B5EF4-FFF2-40B4-BE49-F238E27FC236}">
                <a16:creationId xmlns:a16="http://schemas.microsoft.com/office/drawing/2014/main" id="{CE82366C-85E6-3B40-8B20-A9733E2809E2}"/>
              </a:ext>
            </a:extLst>
          </p:cNvPr>
          <p:cNvSpPr>
            <a:spLocks noGrp="1"/>
          </p:cNvSpPr>
          <p:nvPr>
            <p:ph type="sldNum" sz="quarter" idx="12"/>
          </p:nvPr>
        </p:nvSpPr>
        <p:spPr/>
        <p:txBody>
          <a:bodyPr/>
          <a:lstStyle/>
          <a:p>
            <a:fld id="{14E2ADB4-C600-2649-8D1D-0066A158FD09}" type="slidenum">
              <a:rPr lang="en-US" smtClean="0"/>
              <a:t>13</a:t>
            </a:fld>
            <a:endParaRPr lang="en-US"/>
          </a:p>
        </p:txBody>
      </p:sp>
      <p:grpSp>
        <p:nvGrpSpPr>
          <p:cNvPr id="67" name="Group 66">
            <a:extLst>
              <a:ext uri="{FF2B5EF4-FFF2-40B4-BE49-F238E27FC236}">
                <a16:creationId xmlns:a16="http://schemas.microsoft.com/office/drawing/2014/main" id="{04075AE6-41DF-F040-A75F-FB2123016941}"/>
              </a:ext>
            </a:extLst>
          </p:cNvPr>
          <p:cNvGrpSpPr/>
          <p:nvPr/>
        </p:nvGrpSpPr>
        <p:grpSpPr>
          <a:xfrm>
            <a:off x="838200" y="1828800"/>
            <a:ext cx="10515600" cy="4162097"/>
            <a:chOff x="365760" y="1072896"/>
            <a:chExt cx="11521440" cy="5084064"/>
          </a:xfrm>
        </p:grpSpPr>
        <p:sp>
          <p:nvSpPr>
            <p:cNvPr id="68" name="Shape 3">
              <a:extLst>
                <a:ext uri="{FF2B5EF4-FFF2-40B4-BE49-F238E27FC236}">
                  <a16:creationId xmlns:a16="http://schemas.microsoft.com/office/drawing/2014/main" id="{0CFEEF27-A3EF-B261-AF96-ACA789288259}"/>
                </a:ext>
              </a:extLst>
            </p:cNvPr>
            <p:cNvSpPr/>
            <p:nvPr/>
          </p:nvSpPr>
          <p:spPr>
            <a:xfrm>
              <a:off x="365760" y="1072896"/>
              <a:ext cx="633984" cy="792480"/>
            </a:xfrm>
            <a:prstGeom prst="rect">
              <a:avLst/>
            </a:prstGeom>
            <a:solidFill>
              <a:srgbClr val="F8FAFC"/>
            </a:solidFill>
            <a:ln w="12700">
              <a:solidFill>
                <a:srgbClr val="0891B2"/>
              </a:solidFill>
              <a:prstDash val="solid"/>
            </a:ln>
          </p:spPr>
          <p:txBody>
            <a:bodyPr/>
            <a:lstStyle/>
            <a:p>
              <a:endParaRPr lang="en-US" sz="2400"/>
            </a:p>
          </p:txBody>
        </p:sp>
        <p:sp>
          <p:nvSpPr>
            <p:cNvPr id="69" name="Text 4">
              <a:extLst>
                <a:ext uri="{FF2B5EF4-FFF2-40B4-BE49-F238E27FC236}">
                  <a16:creationId xmlns:a16="http://schemas.microsoft.com/office/drawing/2014/main" id="{96338002-638B-A224-3EFB-1C24B52555C6}"/>
                </a:ext>
              </a:extLst>
            </p:cNvPr>
            <p:cNvSpPr/>
            <p:nvPr/>
          </p:nvSpPr>
          <p:spPr>
            <a:xfrm>
              <a:off x="365760" y="1072896"/>
              <a:ext cx="633984" cy="792480"/>
            </a:xfrm>
            <a:prstGeom prst="rect">
              <a:avLst/>
            </a:prstGeom>
            <a:noFill/>
            <a:ln/>
          </p:spPr>
          <p:txBody>
            <a:bodyPr wrap="square" lIns="0" tIns="0" rIns="0" bIns="0" rtlCol="0" anchor="ctr"/>
            <a:lstStyle/>
            <a:p>
              <a:pPr algn="ctr"/>
              <a:r>
                <a:rPr lang="en-US" sz="2000" b="1" dirty="0">
                  <a:solidFill>
                    <a:srgbClr val="0891B2"/>
                  </a:solidFill>
                  <a:latin typeface="Calibri" pitchFamily="34" charset="0"/>
                  <a:ea typeface="Calibri" pitchFamily="34" charset="-122"/>
                  <a:cs typeface="Calibri" pitchFamily="34" charset="-120"/>
                </a:rPr>
                <a:t>01</a:t>
              </a:r>
              <a:endParaRPr lang="en-US" sz="2000" dirty="0"/>
            </a:p>
          </p:txBody>
        </p:sp>
        <p:grpSp>
          <p:nvGrpSpPr>
            <p:cNvPr id="70" name="Group 69">
              <a:extLst>
                <a:ext uri="{FF2B5EF4-FFF2-40B4-BE49-F238E27FC236}">
                  <a16:creationId xmlns:a16="http://schemas.microsoft.com/office/drawing/2014/main" id="{D63A1886-5537-30E5-B5BC-945CC0E1FAC9}"/>
                </a:ext>
              </a:extLst>
            </p:cNvPr>
            <p:cNvGrpSpPr/>
            <p:nvPr/>
          </p:nvGrpSpPr>
          <p:grpSpPr>
            <a:xfrm>
              <a:off x="365760" y="1072896"/>
              <a:ext cx="11521440" cy="5084064"/>
              <a:chOff x="365760" y="1072896"/>
              <a:chExt cx="11521440" cy="5084064"/>
            </a:xfrm>
          </p:grpSpPr>
          <p:sp>
            <p:nvSpPr>
              <p:cNvPr id="71" name="Text 5">
                <a:extLst>
                  <a:ext uri="{FF2B5EF4-FFF2-40B4-BE49-F238E27FC236}">
                    <a16:creationId xmlns:a16="http://schemas.microsoft.com/office/drawing/2014/main" id="{FB41741D-8403-2A62-80AD-9DE817323920}"/>
                  </a:ext>
                </a:extLst>
              </p:cNvPr>
              <p:cNvSpPr/>
              <p:nvPr/>
            </p:nvSpPr>
            <p:spPr>
              <a:xfrm>
                <a:off x="1158240" y="1072896"/>
                <a:ext cx="10728960" cy="341376"/>
              </a:xfrm>
              <a:prstGeom prst="rect">
                <a:avLst/>
              </a:prstGeom>
              <a:noFill/>
              <a:ln/>
            </p:spPr>
            <p:txBody>
              <a:bodyPr wrap="square" lIns="0" tIns="0" rIns="0" bIns="0" rtlCol="0" anchor="ctr"/>
              <a:lstStyle/>
              <a:p>
                <a:r>
                  <a:rPr lang="en-US" sz="1600" b="1" dirty="0">
                    <a:solidFill>
                      <a:srgbClr val="1E3A5F"/>
                    </a:solidFill>
                    <a:latin typeface="Calibri" pitchFamily="34" charset="0"/>
                    <a:ea typeface="Calibri" pitchFamily="34" charset="-122"/>
                    <a:cs typeface="Calibri" pitchFamily="34" charset="-120"/>
                  </a:rPr>
                  <a:t>RAG transforms data cleaning from guesswork into retrieval</a:t>
                </a:r>
                <a:endParaRPr lang="en-US" sz="1600" dirty="0"/>
              </a:p>
            </p:txBody>
          </p:sp>
          <p:sp>
            <p:nvSpPr>
              <p:cNvPr id="72" name="Text 6">
                <a:extLst>
                  <a:ext uri="{FF2B5EF4-FFF2-40B4-BE49-F238E27FC236}">
                    <a16:creationId xmlns:a16="http://schemas.microsoft.com/office/drawing/2014/main" id="{A9F9D34D-C301-FADF-C197-8895EA6B0DC5}"/>
                  </a:ext>
                </a:extLst>
              </p:cNvPr>
              <p:cNvSpPr/>
              <p:nvPr/>
            </p:nvSpPr>
            <p:spPr>
              <a:xfrm>
                <a:off x="1158239" y="1370190"/>
                <a:ext cx="10728960" cy="341376"/>
              </a:xfrm>
              <a:prstGeom prst="rect">
                <a:avLst/>
              </a:prstGeom>
              <a:noFill/>
              <a:ln/>
            </p:spPr>
            <p:txBody>
              <a:bodyPr wrap="square" lIns="0" tIns="0" rIns="0" bIns="0" rtlCol="0" anchor="ctr"/>
              <a:lstStyle/>
              <a:p>
                <a:r>
                  <a:rPr lang="en-US" sz="1467" dirty="0">
                    <a:solidFill>
                      <a:srgbClr val="64748B"/>
                    </a:solidFill>
                    <a:latin typeface="Calibri" pitchFamily="34" charset="0"/>
                    <a:ea typeface="Calibri" pitchFamily="34" charset="-122"/>
                    <a:cs typeface="Calibri" pitchFamily="34" charset="-120"/>
                  </a:rPr>
                  <a:t>Every configuration with KB access outperforms LLM-only by a large margin, 15.7% to 78.4%.</a:t>
                </a:r>
                <a:endParaRPr lang="en-US" sz="1467" dirty="0"/>
              </a:p>
            </p:txBody>
          </p:sp>
          <p:sp>
            <p:nvSpPr>
              <p:cNvPr id="73" name="Shape 7">
                <a:extLst>
                  <a:ext uri="{FF2B5EF4-FFF2-40B4-BE49-F238E27FC236}">
                    <a16:creationId xmlns:a16="http://schemas.microsoft.com/office/drawing/2014/main" id="{BBE08B62-9C3A-AD67-CAA1-800D608EE391}"/>
                  </a:ext>
                </a:extLst>
              </p:cNvPr>
              <p:cNvSpPr/>
              <p:nvPr/>
            </p:nvSpPr>
            <p:spPr>
              <a:xfrm>
                <a:off x="365760" y="2145792"/>
                <a:ext cx="633984" cy="792480"/>
              </a:xfrm>
              <a:prstGeom prst="rect">
                <a:avLst/>
              </a:prstGeom>
              <a:solidFill>
                <a:srgbClr val="F8FAFC"/>
              </a:solidFill>
              <a:ln w="12700">
                <a:solidFill>
                  <a:srgbClr val="059669"/>
                </a:solidFill>
                <a:prstDash val="solid"/>
              </a:ln>
            </p:spPr>
            <p:txBody>
              <a:bodyPr/>
              <a:lstStyle/>
              <a:p>
                <a:endParaRPr lang="en-US" sz="2400"/>
              </a:p>
            </p:txBody>
          </p:sp>
          <p:sp>
            <p:nvSpPr>
              <p:cNvPr id="74" name="Text 8">
                <a:extLst>
                  <a:ext uri="{FF2B5EF4-FFF2-40B4-BE49-F238E27FC236}">
                    <a16:creationId xmlns:a16="http://schemas.microsoft.com/office/drawing/2014/main" id="{7E8C39AD-62D3-0143-44E9-29EDBF42B025}"/>
                  </a:ext>
                </a:extLst>
              </p:cNvPr>
              <p:cNvSpPr/>
              <p:nvPr/>
            </p:nvSpPr>
            <p:spPr>
              <a:xfrm>
                <a:off x="365760" y="2145792"/>
                <a:ext cx="633984" cy="792480"/>
              </a:xfrm>
              <a:prstGeom prst="rect">
                <a:avLst/>
              </a:prstGeom>
              <a:noFill/>
              <a:ln/>
            </p:spPr>
            <p:txBody>
              <a:bodyPr wrap="square" lIns="0" tIns="0" rIns="0" bIns="0" rtlCol="0" anchor="ctr"/>
              <a:lstStyle/>
              <a:p>
                <a:pPr algn="ctr"/>
                <a:r>
                  <a:rPr lang="en-US" sz="2000" b="1" dirty="0">
                    <a:solidFill>
                      <a:srgbClr val="059669"/>
                    </a:solidFill>
                    <a:latin typeface="Calibri" pitchFamily="34" charset="0"/>
                    <a:ea typeface="Calibri" pitchFamily="34" charset="-122"/>
                    <a:cs typeface="Calibri" pitchFamily="34" charset="-120"/>
                  </a:rPr>
                  <a:t>02</a:t>
                </a:r>
                <a:endParaRPr lang="en-US" sz="2000" dirty="0"/>
              </a:p>
            </p:txBody>
          </p:sp>
          <p:sp>
            <p:nvSpPr>
              <p:cNvPr id="75" name="Text 9">
                <a:extLst>
                  <a:ext uri="{FF2B5EF4-FFF2-40B4-BE49-F238E27FC236}">
                    <a16:creationId xmlns:a16="http://schemas.microsoft.com/office/drawing/2014/main" id="{D7026C5D-DF03-44A1-3C45-F1DC73E9E5B4}"/>
                  </a:ext>
                </a:extLst>
              </p:cNvPr>
              <p:cNvSpPr/>
              <p:nvPr/>
            </p:nvSpPr>
            <p:spPr>
              <a:xfrm>
                <a:off x="1158240" y="2145792"/>
                <a:ext cx="10728960" cy="341376"/>
              </a:xfrm>
              <a:prstGeom prst="rect">
                <a:avLst/>
              </a:prstGeom>
              <a:noFill/>
              <a:ln/>
            </p:spPr>
            <p:txBody>
              <a:bodyPr wrap="square" lIns="0" tIns="0" rIns="0" bIns="0" rtlCol="0" anchor="ctr"/>
              <a:lstStyle/>
              <a:p>
                <a:r>
                  <a:rPr lang="en-US" sz="1600" b="1" dirty="0">
                    <a:solidFill>
                      <a:srgbClr val="1E3A5F"/>
                    </a:solidFill>
                    <a:latin typeface="Calibri" pitchFamily="34" charset="0"/>
                    <a:ea typeface="Calibri" pitchFamily="34" charset="-122"/>
                    <a:cs typeface="Calibri" pitchFamily="34" charset="-120"/>
                  </a:rPr>
                  <a:t>Numeric attributes are where retrieval matters most</a:t>
                </a:r>
                <a:endParaRPr lang="en-US" sz="1600" dirty="0"/>
              </a:p>
            </p:txBody>
          </p:sp>
          <p:sp>
            <p:nvSpPr>
              <p:cNvPr id="76" name="Text 10">
                <a:extLst>
                  <a:ext uri="{FF2B5EF4-FFF2-40B4-BE49-F238E27FC236}">
                    <a16:creationId xmlns:a16="http://schemas.microsoft.com/office/drawing/2014/main" id="{84D1F318-1F2D-3990-1B14-F6DB80A378F9}"/>
                  </a:ext>
                </a:extLst>
              </p:cNvPr>
              <p:cNvSpPr/>
              <p:nvPr/>
            </p:nvSpPr>
            <p:spPr>
              <a:xfrm>
                <a:off x="1158238" y="2447341"/>
                <a:ext cx="10728960" cy="341376"/>
              </a:xfrm>
              <a:prstGeom prst="rect">
                <a:avLst/>
              </a:prstGeom>
              <a:noFill/>
              <a:ln/>
            </p:spPr>
            <p:txBody>
              <a:bodyPr wrap="square" lIns="0" tIns="0" rIns="0" bIns="0" rtlCol="0" anchor="ctr"/>
              <a:lstStyle/>
              <a:p>
                <a:r>
                  <a:rPr lang="en-US" sz="1467" dirty="0">
                    <a:solidFill>
                      <a:srgbClr val="64748B"/>
                    </a:solidFill>
                    <a:latin typeface="Calibri" pitchFamily="34" charset="0"/>
                    <a:ea typeface="Calibri" pitchFamily="34" charset="-122"/>
                    <a:cs typeface="Calibri" pitchFamily="34" charset="-120"/>
                  </a:rPr>
                  <a:t>Speeds and dimensions score 0% via LLM. Once retrieval finds the right product, the LLM simply copies the value.</a:t>
                </a:r>
                <a:endParaRPr lang="en-US" sz="1467" dirty="0"/>
              </a:p>
            </p:txBody>
          </p:sp>
          <p:sp>
            <p:nvSpPr>
              <p:cNvPr id="77" name="Shape 11">
                <a:extLst>
                  <a:ext uri="{FF2B5EF4-FFF2-40B4-BE49-F238E27FC236}">
                    <a16:creationId xmlns:a16="http://schemas.microsoft.com/office/drawing/2014/main" id="{30D68671-7F53-485B-37FC-F433688F6A6C}"/>
                  </a:ext>
                </a:extLst>
              </p:cNvPr>
              <p:cNvSpPr/>
              <p:nvPr/>
            </p:nvSpPr>
            <p:spPr>
              <a:xfrm>
                <a:off x="365760" y="3218688"/>
                <a:ext cx="633984" cy="792480"/>
              </a:xfrm>
              <a:prstGeom prst="rect">
                <a:avLst/>
              </a:prstGeom>
              <a:solidFill>
                <a:srgbClr val="F8FAFC"/>
              </a:solidFill>
              <a:ln w="12700">
                <a:solidFill>
                  <a:srgbClr val="0891B2"/>
                </a:solidFill>
                <a:prstDash val="solid"/>
              </a:ln>
            </p:spPr>
            <p:txBody>
              <a:bodyPr/>
              <a:lstStyle/>
              <a:p>
                <a:endParaRPr lang="en-US" sz="2400"/>
              </a:p>
            </p:txBody>
          </p:sp>
          <p:sp>
            <p:nvSpPr>
              <p:cNvPr id="78" name="Text 12">
                <a:extLst>
                  <a:ext uri="{FF2B5EF4-FFF2-40B4-BE49-F238E27FC236}">
                    <a16:creationId xmlns:a16="http://schemas.microsoft.com/office/drawing/2014/main" id="{4D68D914-297B-438C-C4CE-6E993A918AA6}"/>
                  </a:ext>
                </a:extLst>
              </p:cNvPr>
              <p:cNvSpPr/>
              <p:nvPr/>
            </p:nvSpPr>
            <p:spPr>
              <a:xfrm>
                <a:off x="365760" y="3218687"/>
                <a:ext cx="633984" cy="792480"/>
              </a:xfrm>
              <a:prstGeom prst="rect">
                <a:avLst/>
              </a:prstGeom>
              <a:noFill/>
              <a:ln/>
            </p:spPr>
            <p:txBody>
              <a:bodyPr wrap="square" lIns="0" tIns="0" rIns="0" bIns="0" rtlCol="0" anchor="ctr"/>
              <a:lstStyle/>
              <a:p>
                <a:pPr algn="ctr"/>
                <a:r>
                  <a:rPr lang="en-US" sz="2000" b="1" dirty="0">
                    <a:solidFill>
                      <a:srgbClr val="0891B2"/>
                    </a:solidFill>
                    <a:latin typeface="Calibri" pitchFamily="34" charset="0"/>
                    <a:ea typeface="Calibri" pitchFamily="34" charset="-122"/>
                    <a:cs typeface="Calibri" pitchFamily="34" charset="-120"/>
                  </a:rPr>
                  <a:t>03</a:t>
                </a:r>
                <a:endParaRPr lang="en-US" sz="2000" dirty="0"/>
              </a:p>
            </p:txBody>
          </p:sp>
          <p:sp>
            <p:nvSpPr>
              <p:cNvPr id="79" name="Text 13">
                <a:extLst>
                  <a:ext uri="{FF2B5EF4-FFF2-40B4-BE49-F238E27FC236}">
                    <a16:creationId xmlns:a16="http://schemas.microsoft.com/office/drawing/2014/main" id="{DDE9E866-7F69-5CA8-09B3-C7AD3265F1FC}"/>
                  </a:ext>
                </a:extLst>
              </p:cNvPr>
              <p:cNvSpPr/>
              <p:nvPr/>
            </p:nvSpPr>
            <p:spPr>
              <a:xfrm>
                <a:off x="1158240" y="3218687"/>
                <a:ext cx="10728960" cy="341376"/>
              </a:xfrm>
              <a:prstGeom prst="rect">
                <a:avLst/>
              </a:prstGeom>
              <a:noFill/>
              <a:ln/>
            </p:spPr>
            <p:txBody>
              <a:bodyPr wrap="square" lIns="0" tIns="0" rIns="0" bIns="0" rtlCol="0" anchor="ctr"/>
              <a:lstStyle/>
              <a:p>
                <a:r>
                  <a:rPr lang="en-US" sz="1600" b="1" dirty="0">
                    <a:solidFill>
                      <a:srgbClr val="1E3A5F"/>
                    </a:solidFill>
                    <a:latin typeface="Calibri" pitchFamily="34" charset="0"/>
                    <a:ea typeface="Calibri" pitchFamily="34" charset="-122"/>
                    <a:cs typeface="Calibri" pitchFamily="34" charset="-120"/>
                  </a:rPr>
                  <a:t>Two-stage retrieval helps but has trade-offs</a:t>
                </a:r>
                <a:endParaRPr lang="en-US" sz="1600" dirty="0"/>
              </a:p>
            </p:txBody>
          </p:sp>
          <p:sp>
            <p:nvSpPr>
              <p:cNvPr id="80" name="Text 14">
                <a:extLst>
                  <a:ext uri="{FF2B5EF4-FFF2-40B4-BE49-F238E27FC236}">
                    <a16:creationId xmlns:a16="http://schemas.microsoft.com/office/drawing/2014/main" id="{E26CE0D6-C5A9-3E29-F0A8-C19B52B65C8D}"/>
                  </a:ext>
                </a:extLst>
              </p:cNvPr>
              <p:cNvSpPr/>
              <p:nvPr/>
            </p:nvSpPr>
            <p:spPr>
              <a:xfrm>
                <a:off x="1158238" y="3582175"/>
                <a:ext cx="10728960" cy="341376"/>
              </a:xfrm>
              <a:prstGeom prst="rect">
                <a:avLst/>
              </a:prstGeom>
              <a:noFill/>
              <a:ln/>
            </p:spPr>
            <p:txBody>
              <a:bodyPr wrap="square" lIns="0" tIns="0" rIns="0" bIns="0" rtlCol="0" anchor="ctr"/>
              <a:lstStyle/>
              <a:p>
                <a:r>
                  <a:rPr lang="en-US" sz="1467" dirty="0">
                    <a:solidFill>
                      <a:srgbClr val="64748B"/>
                    </a:solidFill>
                    <a:latin typeface="Calibri" pitchFamily="34" charset="0"/>
                    <a:ea typeface="Calibri" pitchFamily="34" charset="-122"/>
                    <a:cs typeface="Calibri" pitchFamily="34" charset="-120"/>
                  </a:rPr>
                  <a:t>CrossEncoder reranking improves model_number (18% → 73%) but BGE recovers more dimension values. Neither dominates completely.</a:t>
                </a:r>
                <a:endParaRPr lang="en-US" sz="1467" dirty="0"/>
              </a:p>
            </p:txBody>
          </p:sp>
          <p:sp>
            <p:nvSpPr>
              <p:cNvPr id="81" name="Shape 15">
                <a:extLst>
                  <a:ext uri="{FF2B5EF4-FFF2-40B4-BE49-F238E27FC236}">
                    <a16:creationId xmlns:a16="http://schemas.microsoft.com/office/drawing/2014/main" id="{5719E997-C32A-58E9-CD3C-1D9D3DA0454B}"/>
                  </a:ext>
                </a:extLst>
              </p:cNvPr>
              <p:cNvSpPr/>
              <p:nvPr/>
            </p:nvSpPr>
            <p:spPr>
              <a:xfrm>
                <a:off x="365760" y="4291584"/>
                <a:ext cx="633984" cy="792480"/>
              </a:xfrm>
              <a:prstGeom prst="rect">
                <a:avLst/>
              </a:prstGeom>
              <a:solidFill>
                <a:srgbClr val="F8FAFC"/>
              </a:solidFill>
              <a:ln w="12700">
                <a:solidFill>
                  <a:srgbClr val="D97706"/>
                </a:solidFill>
                <a:prstDash val="solid"/>
              </a:ln>
            </p:spPr>
            <p:txBody>
              <a:bodyPr/>
              <a:lstStyle/>
              <a:p>
                <a:endParaRPr lang="en-US" sz="2400"/>
              </a:p>
            </p:txBody>
          </p:sp>
          <p:sp>
            <p:nvSpPr>
              <p:cNvPr id="82" name="Text 16">
                <a:extLst>
                  <a:ext uri="{FF2B5EF4-FFF2-40B4-BE49-F238E27FC236}">
                    <a16:creationId xmlns:a16="http://schemas.microsoft.com/office/drawing/2014/main" id="{BCE24648-DFCD-CD91-0F09-C5EDA02626F6}"/>
                  </a:ext>
                </a:extLst>
              </p:cNvPr>
              <p:cNvSpPr/>
              <p:nvPr/>
            </p:nvSpPr>
            <p:spPr>
              <a:xfrm>
                <a:off x="365760" y="4291584"/>
                <a:ext cx="633984" cy="792480"/>
              </a:xfrm>
              <a:prstGeom prst="rect">
                <a:avLst/>
              </a:prstGeom>
              <a:noFill/>
              <a:ln/>
            </p:spPr>
            <p:txBody>
              <a:bodyPr wrap="square" lIns="0" tIns="0" rIns="0" bIns="0" rtlCol="0" anchor="ctr"/>
              <a:lstStyle/>
              <a:p>
                <a:pPr algn="ctr"/>
                <a:r>
                  <a:rPr lang="en-US" sz="2000" b="1" dirty="0">
                    <a:solidFill>
                      <a:srgbClr val="D97706"/>
                    </a:solidFill>
                    <a:latin typeface="Calibri" pitchFamily="34" charset="0"/>
                    <a:ea typeface="Calibri" pitchFamily="34" charset="-122"/>
                    <a:cs typeface="Calibri" pitchFamily="34" charset="-120"/>
                  </a:rPr>
                  <a:t>04</a:t>
                </a:r>
                <a:endParaRPr lang="en-US" sz="2000" dirty="0"/>
              </a:p>
            </p:txBody>
          </p:sp>
          <p:sp>
            <p:nvSpPr>
              <p:cNvPr id="83" name="Text 17">
                <a:extLst>
                  <a:ext uri="{FF2B5EF4-FFF2-40B4-BE49-F238E27FC236}">
                    <a16:creationId xmlns:a16="http://schemas.microsoft.com/office/drawing/2014/main" id="{BCAFA0AB-76CD-AA96-5A67-AD28F4F04AA9}"/>
                  </a:ext>
                </a:extLst>
              </p:cNvPr>
              <p:cNvSpPr/>
              <p:nvPr/>
            </p:nvSpPr>
            <p:spPr>
              <a:xfrm>
                <a:off x="1158240" y="4291584"/>
                <a:ext cx="10728960" cy="341376"/>
              </a:xfrm>
              <a:prstGeom prst="rect">
                <a:avLst/>
              </a:prstGeom>
              <a:noFill/>
              <a:ln/>
            </p:spPr>
            <p:txBody>
              <a:bodyPr wrap="square" lIns="0" tIns="0" rIns="0" bIns="0" rtlCol="0" anchor="ctr"/>
              <a:lstStyle/>
              <a:p>
                <a:r>
                  <a:rPr lang="en-US" sz="1600" b="1" dirty="0">
                    <a:solidFill>
                      <a:srgbClr val="1E3A5F"/>
                    </a:solidFill>
                    <a:latin typeface="Calibri" pitchFamily="34" charset="0"/>
                    <a:ea typeface="Calibri" pitchFamily="34" charset="-122"/>
                    <a:cs typeface="Calibri" pitchFamily="34" charset="-120"/>
                  </a:rPr>
                  <a:t>The bottleneck is </a:t>
                </a:r>
                <a:r>
                  <a:rPr lang="en-US" sz="1600" b="1" dirty="0">
                    <a:solidFill>
                      <a:srgbClr val="1E3A5F"/>
                    </a:solidFill>
                    <a:latin typeface="Calibri" pitchFamily="34" charset="0"/>
                    <a:cs typeface="Calibri" pitchFamily="34" charset="-120"/>
                  </a:rPr>
                  <a:t>retrieval precision</a:t>
                </a:r>
              </a:p>
            </p:txBody>
          </p:sp>
          <p:sp>
            <p:nvSpPr>
              <p:cNvPr id="84" name="Text 18">
                <a:extLst>
                  <a:ext uri="{FF2B5EF4-FFF2-40B4-BE49-F238E27FC236}">
                    <a16:creationId xmlns:a16="http://schemas.microsoft.com/office/drawing/2014/main" id="{0B2B1D3D-B8EC-4936-E9CA-544F73FA1552}"/>
                  </a:ext>
                </a:extLst>
              </p:cNvPr>
              <p:cNvSpPr/>
              <p:nvPr/>
            </p:nvSpPr>
            <p:spPr>
              <a:xfrm>
                <a:off x="1158236" y="4589505"/>
                <a:ext cx="10728960" cy="341376"/>
              </a:xfrm>
              <a:prstGeom prst="rect">
                <a:avLst/>
              </a:prstGeom>
              <a:noFill/>
              <a:ln/>
            </p:spPr>
            <p:txBody>
              <a:bodyPr wrap="square" lIns="0" tIns="0" rIns="0" bIns="0" rtlCol="0" anchor="ctr"/>
              <a:lstStyle/>
              <a:p>
                <a:r>
                  <a:rPr lang="en-US" sz="1467" dirty="0">
                    <a:solidFill>
                      <a:srgbClr val="64748B"/>
                    </a:solidFill>
                    <a:latin typeface="Calibri" pitchFamily="34" charset="0"/>
                    <a:cs typeface="Calibri" pitchFamily="34" charset="-120"/>
                  </a:rPr>
                  <a:t>Failures occur when </a:t>
                </a:r>
                <a:r>
                  <a:rPr lang="en-US" sz="1467" dirty="0" err="1">
                    <a:solidFill>
                      <a:srgbClr val="64748B"/>
                    </a:solidFill>
                    <a:latin typeface="Calibri" pitchFamily="34" charset="0"/>
                    <a:cs typeface="Calibri" pitchFamily="34" charset="-120"/>
                  </a:rPr>
                  <a:t>CrossEncoder</a:t>
                </a:r>
                <a:r>
                  <a:rPr lang="en-US" sz="1467" dirty="0">
                    <a:solidFill>
                      <a:srgbClr val="64748B"/>
                    </a:solidFill>
                    <a:latin typeface="Calibri" pitchFamily="34" charset="0"/>
                    <a:cs typeface="Calibri" pitchFamily="34" charset="-120"/>
                  </a:rPr>
                  <a:t> selects a highly similar but wrong product variant</a:t>
                </a:r>
              </a:p>
            </p:txBody>
          </p:sp>
          <p:sp>
            <p:nvSpPr>
              <p:cNvPr id="85" name="Shape 19">
                <a:extLst>
                  <a:ext uri="{FF2B5EF4-FFF2-40B4-BE49-F238E27FC236}">
                    <a16:creationId xmlns:a16="http://schemas.microsoft.com/office/drawing/2014/main" id="{7297DA48-6121-882A-D417-F90F247D9750}"/>
                  </a:ext>
                </a:extLst>
              </p:cNvPr>
              <p:cNvSpPr/>
              <p:nvPr/>
            </p:nvSpPr>
            <p:spPr>
              <a:xfrm>
                <a:off x="365760" y="5364480"/>
                <a:ext cx="633984" cy="792480"/>
              </a:xfrm>
              <a:prstGeom prst="rect">
                <a:avLst/>
              </a:prstGeom>
              <a:solidFill>
                <a:srgbClr val="F8FAFC"/>
              </a:solidFill>
              <a:ln w="12700">
                <a:solidFill>
                  <a:srgbClr val="059669"/>
                </a:solidFill>
                <a:prstDash val="solid"/>
              </a:ln>
            </p:spPr>
            <p:txBody>
              <a:bodyPr/>
              <a:lstStyle/>
              <a:p>
                <a:endParaRPr lang="en-US" sz="2400"/>
              </a:p>
            </p:txBody>
          </p:sp>
          <p:sp>
            <p:nvSpPr>
              <p:cNvPr id="86" name="Text 20">
                <a:extLst>
                  <a:ext uri="{FF2B5EF4-FFF2-40B4-BE49-F238E27FC236}">
                    <a16:creationId xmlns:a16="http://schemas.microsoft.com/office/drawing/2014/main" id="{1489E559-6F77-07EE-F6EE-B11DC993F03E}"/>
                  </a:ext>
                </a:extLst>
              </p:cNvPr>
              <p:cNvSpPr/>
              <p:nvPr/>
            </p:nvSpPr>
            <p:spPr>
              <a:xfrm>
                <a:off x="365760" y="5364480"/>
                <a:ext cx="633984" cy="792480"/>
              </a:xfrm>
              <a:prstGeom prst="rect">
                <a:avLst/>
              </a:prstGeom>
              <a:noFill/>
              <a:ln/>
            </p:spPr>
            <p:txBody>
              <a:bodyPr wrap="square" lIns="0" tIns="0" rIns="0" bIns="0" rtlCol="0" anchor="ctr"/>
              <a:lstStyle/>
              <a:p>
                <a:pPr algn="ctr"/>
                <a:r>
                  <a:rPr lang="en-US" sz="2000" b="1" dirty="0">
                    <a:solidFill>
                      <a:srgbClr val="059669"/>
                    </a:solidFill>
                    <a:latin typeface="Calibri" pitchFamily="34" charset="0"/>
                    <a:ea typeface="Calibri" pitchFamily="34" charset="-122"/>
                    <a:cs typeface="Calibri" pitchFamily="34" charset="-120"/>
                  </a:rPr>
                  <a:t>05</a:t>
                </a:r>
                <a:endParaRPr lang="en-US" sz="2000" dirty="0"/>
              </a:p>
            </p:txBody>
          </p:sp>
          <p:sp>
            <p:nvSpPr>
              <p:cNvPr id="87" name="Text 21">
                <a:extLst>
                  <a:ext uri="{FF2B5EF4-FFF2-40B4-BE49-F238E27FC236}">
                    <a16:creationId xmlns:a16="http://schemas.microsoft.com/office/drawing/2014/main" id="{65ADB055-4ACB-8460-AA85-65D21FB2ABF3}"/>
                  </a:ext>
                </a:extLst>
              </p:cNvPr>
              <p:cNvSpPr/>
              <p:nvPr/>
            </p:nvSpPr>
            <p:spPr>
              <a:xfrm>
                <a:off x="1158240" y="5364480"/>
                <a:ext cx="10728960" cy="341376"/>
              </a:xfrm>
              <a:prstGeom prst="rect">
                <a:avLst/>
              </a:prstGeom>
              <a:noFill/>
              <a:ln/>
            </p:spPr>
            <p:txBody>
              <a:bodyPr wrap="square" lIns="0" tIns="0" rIns="0" bIns="0" rtlCol="0" anchor="ctr"/>
              <a:lstStyle/>
              <a:p>
                <a:r>
                  <a:rPr lang="en-US" sz="1600" b="1" dirty="0">
                    <a:solidFill>
                      <a:srgbClr val="1E3A5F"/>
                    </a:solidFill>
                    <a:latin typeface="Calibri" pitchFamily="34" charset="0"/>
                    <a:cs typeface="Calibri" pitchFamily="34" charset="-120"/>
                  </a:rPr>
                  <a:t>Future work: better entity resolution and stronger </a:t>
                </a:r>
                <a:r>
                  <a:rPr lang="en-US" sz="1600" b="1" dirty="0" err="1">
                    <a:solidFill>
                      <a:srgbClr val="1E3A5F"/>
                    </a:solidFill>
                    <a:latin typeface="Calibri" pitchFamily="34" charset="0"/>
                    <a:cs typeface="Calibri" pitchFamily="34" charset="-120"/>
                  </a:rPr>
                  <a:t>rerankers</a:t>
                </a:r>
                <a:endParaRPr lang="en-US" sz="1600" b="1" dirty="0">
                  <a:solidFill>
                    <a:srgbClr val="1E3A5F"/>
                  </a:solidFill>
                  <a:latin typeface="Calibri" pitchFamily="34" charset="0"/>
                  <a:cs typeface="Calibri" pitchFamily="34" charset="-120"/>
                </a:endParaRPr>
              </a:p>
            </p:txBody>
          </p:sp>
          <p:sp>
            <p:nvSpPr>
              <p:cNvPr id="88" name="Text 22">
                <a:extLst>
                  <a:ext uri="{FF2B5EF4-FFF2-40B4-BE49-F238E27FC236}">
                    <a16:creationId xmlns:a16="http://schemas.microsoft.com/office/drawing/2014/main" id="{EE1A2BBC-03BB-2E71-0C6D-90F05C8859DD}"/>
                  </a:ext>
                </a:extLst>
              </p:cNvPr>
              <p:cNvSpPr/>
              <p:nvPr/>
            </p:nvSpPr>
            <p:spPr>
              <a:xfrm>
                <a:off x="1158235" y="5761320"/>
                <a:ext cx="10728960" cy="341376"/>
              </a:xfrm>
              <a:prstGeom prst="rect">
                <a:avLst/>
              </a:prstGeom>
              <a:noFill/>
              <a:ln/>
            </p:spPr>
            <p:txBody>
              <a:bodyPr wrap="square" lIns="0" tIns="0" rIns="0" bIns="0" rtlCol="0" anchor="ctr"/>
              <a:lstStyle/>
              <a:p>
                <a:r>
                  <a:rPr lang="en-US" sz="1467" dirty="0">
                    <a:solidFill>
                      <a:srgbClr val="64748B"/>
                    </a:solidFill>
                    <a:latin typeface="Calibri" pitchFamily="34" charset="0"/>
                    <a:cs typeface="Calibri" pitchFamily="34" charset="-120"/>
                  </a:rPr>
                  <a:t>Replacing the </a:t>
                </a:r>
                <a:r>
                  <a:rPr lang="en-US" sz="1467" dirty="0" err="1">
                    <a:solidFill>
                      <a:srgbClr val="64748B"/>
                    </a:solidFill>
                    <a:latin typeface="Calibri" pitchFamily="34" charset="0"/>
                    <a:cs typeface="Calibri" pitchFamily="34" charset="-120"/>
                  </a:rPr>
                  <a:t>CrossEncoder</a:t>
                </a:r>
                <a:r>
                  <a:rPr lang="en-US" sz="1467" dirty="0">
                    <a:solidFill>
                      <a:srgbClr val="64748B"/>
                    </a:solidFill>
                    <a:latin typeface="Calibri" pitchFamily="34" charset="0"/>
                    <a:cs typeface="Calibri" pitchFamily="34" charset="-120"/>
                  </a:rPr>
                  <a:t> with a fine-tuned product matching model and using consistent cluster IDs across source datasets would address the remaining near-identical SKU failures.</a:t>
                </a:r>
              </a:p>
            </p:txBody>
          </p:sp>
        </p:grpSp>
      </p:grpSp>
    </p:spTree>
    <p:extLst>
      <p:ext uri="{BB962C8B-B14F-4D97-AF65-F5344CB8AC3E}">
        <p14:creationId xmlns:p14="http://schemas.microsoft.com/office/powerpoint/2010/main" val="1722606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C9AAF5-7C1C-BD7D-AFAD-19CBF18DA0FE}"/>
              </a:ext>
            </a:extLst>
          </p:cNvPr>
          <p:cNvSpPr>
            <a:spLocks noGrp="1"/>
          </p:cNvSpPr>
          <p:nvPr>
            <p:ph type="dt" sz="half" idx="10"/>
          </p:nvPr>
        </p:nvSpPr>
        <p:spPr/>
        <p:txBody>
          <a:bodyPr/>
          <a:lstStyle/>
          <a:p>
            <a:fld id="{2DC6C977-130B-A646-B68C-E4D2F6F41668}" type="datetime1">
              <a:rPr lang="en-US" smtClean="0"/>
              <a:t>4/13/26</a:t>
            </a:fld>
            <a:endParaRPr lang="en-US"/>
          </a:p>
        </p:txBody>
      </p:sp>
      <p:sp>
        <p:nvSpPr>
          <p:cNvPr id="3" name="Footer Placeholder 2">
            <a:extLst>
              <a:ext uri="{FF2B5EF4-FFF2-40B4-BE49-F238E27FC236}">
                <a16:creationId xmlns:a16="http://schemas.microsoft.com/office/drawing/2014/main" id="{21E90B42-C77F-7EA6-4B9F-78C8378B4BE7}"/>
              </a:ext>
            </a:extLst>
          </p:cNvPr>
          <p:cNvSpPr>
            <a:spLocks noGrp="1"/>
          </p:cNvSpPr>
          <p:nvPr>
            <p:ph type="ftr" sz="quarter" idx="11"/>
          </p:nvPr>
        </p:nvSpPr>
        <p:spPr/>
        <p:txBody>
          <a:bodyPr/>
          <a:lstStyle/>
          <a:p>
            <a:r>
              <a:rPr lang="en-US" b="1"/>
              <a:t>Seminar CS715: Solving Complex Tasks using LLMs</a:t>
            </a:r>
            <a:endParaRPr lang="en-US" b="1" dirty="0"/>
          </a:p>
        </p:txBody>
      </p:sp>
      <p:sp>
        <p:nvSpPr>
          <p:cNvPr id="4" name="Slide Number Placeholder 3">
            <a:extLst>
              <a:ext uri="{FF2B5EF4-FFF2-40B4-BE49-F238E27FC236}">
                <a16:creationId xmlns:a16="http://schemas.microsoft.com/office/drawing/2014/main" id="{F8675AE2-9A76-72E4-1326-BFA31FD4C188}"/>
              </a:ext>
            </a:extLst>
          </p:cNvPr>
          <p:cNvSpPr>
            <a:spLocks noGrp="1"/>
          </p:cNvSpPr>
          <p:nvPr>
            <p:ph type="sldNum" sz="quarter" idx="12"/>
          </p:nvPr>
        </p:nvSpPr>
        <p:spPr/>
        <p:txBody>
          <a:bodyPr/>
          <a:lstStyle/>
          <a:p>
            <a:fld id="{14E2ADB4-C600-2649-8D1D-0066A158FD09}" type="slidenum">
              <a:rPr lang="en-US" smtClean="0"/>
              <a:t>14</a:t>
            </a:fld>
            <a:endParaRPr lang="en-US"/>
          </a:p>
        </p:txBody>
      </p:sp>
      <p:sp>
        <p:nvSpPr>
          <p:cNvPr id="5" name="Rectangle 4">
            <a:extLst>
              <a:ext uri="{FF2B5EF4-FFF2-40B4-BE49-F238E27FC236}">
                <a16:creationId xmlns:a16="http://schemas.microsoft.com/office/drawing/2014/main" id="{96B0E2FE-DBA1-24AA-B337-AC7DECA5F121}"/>
              </a:ext>
            </a:extLst>
          </p:cNvPr>
          <p:cNvSpPr/>
          <p:nvPr/>
        </p:nvSpPr>
        <p:spPr>
          <a:xfrm>
            <a:off x="4496203" y="2689469"/>
            <a:ext cx="3199594" cy="923330"/>
          </a:xfrm>
          <a:prstGeom prst="rect">
            <a:avLst/>
          </a:prstGeom>
          <a:noFill/>
        </p:spPr>
        <p:txBody>
          <a:bodyPr wrap="none" lIns="91440" tIns="45720" rIns="91440" bIns="45720">
            <a:spAutoFit/>
          </a:bodyPr>
          <a:lstStyle/>
          <a:p>
            <a:pPr algn="ctr"/>
            <a:r>
              <a:rPr lang="en-US" sz="5400" b="0" cap="none" spc="0" dirty="0">
                <a:ln w="0"/>
                <a:solidFill>
                  <a:schemeClr val="tx1"/>
                </a:solidFill>
                <a:effectLst>
                  <a:outerShdw blurRad="38100" dist="19050" dir="2700000" algn="tl" rotWithShape="0">
                    <a:schemeClr val="dk1">
                      <a:alpha val="40000"/>
                    </a:schemeClr>
                  </a:outerShdw>
                </a:effectLst>
              </a:rPr>
              <a:t>Thank you</a:t>
            </a:r>
          </a:p>
        </p:txBody>
      </p:sp>
      <p:sp>
        <p:nvSpPr>
          <p:cNvPr id="6" name="Rectangle 5">
            <a:extLst>
              <a:ext uri="{FF2B5EF4-FFF2-40B4-BE49-F238E27FC236}">
                <a16:creationId xmlns:a16="http://schemas.microsoft.com/office/drawing/2014/main" id="{2F5AAD46-5DD0-1719-EF71-5238CD1DCEDD}"/>
              </a:ext>
            </a:extLst>
          </p:cNvPr>
          <p:cNvSpPr/>
          <p:nvPr/>
        </p:nvSpPr>
        <p:spPr>
          <a:xfrm>
            <a:off x="4740724" y="3460646"/>
            <a:ext cx="2710550" cy="707886"/>
          </a:xfrm>
          <a:prstGeom prst="rect">
            <a:avLst/>
          </a:prstGeom>
          <a:noFill/>
        </p:spPr>
        <p:txBody>
          <a:bodyPr wrap="none" lIns="91440" tIns="45720" rIns="91440" bIns="45720">
            <a:spAutoFit/>
          </a:bodyPr>
          <a:lstStyle/>
          <a:p>
            <a:pPr algn="ctr"/>
            <a:r>
              <a:rPr lang="en-US" sz="4000" b="0" cap="none" spc="0" dirty="0">
                <a:ln w="0"/>
                <a:solidFill>
                  <a:schemeClr val="tx1"/>
                </a:solidFill>
                <a:effectLst>
                  <a:outerShdw blurRad="38100" dist="19050" dir="2700000" algn="tl" rotWithShape="0">
                    <a:schemeClr val="dk1">
                      <a:alpha val="40000"/>
                    </a:schemeClr>
                  </a:outerShdw>
                </a:effectLst>
              </a:rPr>
              <a:t>Questions?</a:t>
            </a:r>
          </a:p>
        </p:txBody>
      </p:sp>
    </p:spTree>
    <p:extLst>
      <p:ext uri="{BB962C8B-B14F-4D97-AF65-F5344CB8AC3E}">
        <p14:creationId xmlns:p14="http://schemas.microsoft.com/office/powerpoint/2010/main" val="37141308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1839</TotalTime>
  <Words>1728</Words>
  <Application>Microsoft Macintosh PowerPoint</Application>
  <PresentationFormat>Widescreen</PresentationFormat>
  <Paragraphs>196</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Calibri</vt:lpstr>
      <vt:lpstr>Office Theme</vt:lpstr>
      <vt:lpstr>RAG-Driven Data Cleaning with PyDI</vt:lpstr>
      <vt:lpstr>The Problem: Incomplete Product Data</vt:lpstr>
      <vt:lpstr>The Problem: Incomplete Product Data</vt:lpstr>
      <vt:lpstr>RetClean</vt:lpstr>
      <vt:lpstr>RetClean</vt:lpstr>
      <vt:lpstr>Dataset and Attribute Selection</vt:lpstr>
      <vt:lpstr>Experimental Configurations</vt:lpstr>
      <vt:lpstr>System Architecture (BGE + Reranker)</vt:lpstr>
      <vt:lpstr>Overall Results</vt:lpstr>
      <vt:lpstr>Per-Attribute</vt:lpstr>
      <vt:lpstr>Numeric Attributes Need Retrieval</vt:lpstr>
      <vt:lpstr>Text vs Numeric: Where RAG Helps Most</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Marmee Pandya</dc:creator>
  <cp:lastModifiedBy>Marmee Pandya</cp:lastModifiedBy>
  <cp:revision>39</cp:revision>
  <dcterms:created xsi:type="dcterms:W3CDTF">2026-03-19T06:29:30Z</dcterms:created>
  <dcterms:modified xsi:type="dcterms:W3CDTF">2026-04-13T18:30:57Z</dcterms:modified>
</cp:coreProperties>
</file>